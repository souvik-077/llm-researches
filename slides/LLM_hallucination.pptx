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>
        <p:scale>
          <a:sx n="135" d="100"/>
          <a:sy n="135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&#24037;&#20316;&#31807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Accuracy (%)</c:v>
          </c:tx>
          <c:spPr>
            <a:solidFill>
              <a:srgbClr val="2E5C8A"/>
            </a:solidFill>
            <a:ln>
              <a:noFill/>
            </a:ln>
          </c:spPr>
          <c:invertIfNegative val="0"/>
          <c:dLbls>
            <c:txPr>
              <a:bodyPr/>
              <a:lstStyle/>
              <a:p>
                <a:pPr>
                  <a:defRPr sz="1200" b="0" i="0" u="none" strike="noStrike" baseline="0">
                    <a:solidFill>
                      <a:srgbClr val="1A1A1A"/>
                    </a:solidFill>
                    <a:latin typeface="Arial"/>
                    <a:ea typeface="Droid Sans"/>
                    <a:cs typeface="Lucida Sans"/>
                  </a:defRPr>
                </a:pPr>
                <a:endParaRPr lang="zh-CN"/>
              </a:p>
            </c:txPr>
            <c:numFmt formatCode="#,##0" sourceLinked="0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Baseline
LLM</c:v>
              </c:pt>
              <c:pt idx="1">
                <c:v>RAG</c:v>
              </c:pt>
              <c:pt idx="2">
                <c:v>GraphRAG</c:v>
              </c:pt>
              <c:pt idx="3">
                <c:v>ToG</c:v>
              </c:pt>
              <c:pt idx="4">
                <c:v>MKG</c:v>
              </c:pt>
            </c:strLit>
          </c:cat>
          <c:val>
            <c:numRef>
              <c:f/>
              <c:numCache>
                <c:formatCode>#,##0</c:formatCode>
                <c:ptCount val="5"/>
                <c:pt idx="0">
                  <c:v>31.0</c:v>
                </c:pt>
                <c:pt idx="1">
                  <c:v>44.0</c:v>
                </c:pt>
                <c:pt idx="2">
                  <c:v>45.3</c:v>
                </c:pt>
                <c:pt idx="3">
                  <c:v>55.6</c:v>
                </c:pt>
                <c:pt idx="4">
                  <c:v>61.0</c:v>
                </c:pt>
              </c:numCache>
            </c:numRef>
          </c:val>
        </c:ser>
        <c:gapWidth val="150"/>
        <c:axId val="0"/>
        <c:axId val="1"/>
      </c:barChart>
      <c:catAx>
        <c:axId val="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/>
          <a:lstStyle/>
          <a:p>
            <a:pPr>
              <a:defRPr sz="1200" b="0" i="0" u="none" strike="noStrike" baseline="0">
                <a:solidFill>
                  <a:srgbClr val="4A4A4A"/>
                </a:solidFill>
                <a:latin typeface="Arial"/>
                <a:ea typeface="Droid Sans"/>
                <a:cs typeface="Lucida Sans"/>
              </a:defRPr>
            </a:pPr>
            <a:endParaRPr lang="zh-CN"/>
          </a:p>
        </c:txPr>
        <c:crosses val="autoZero"/>
        <c:auto val="1"/>
        <c:lblOffset val="100"/>
        <c:lblAlgn val="ctr"/>
        <c:noMultiLvlLbl val="0"/>
        <c:crossAx val="1"/>
      </c:catAx>
      <c:valAx>
        <c:axId val="1"/>
        <c:scaling>
          <c:orientation val="minMax"/>
        </c:scaling>
        <c:delete val="0"/>
        <c:axPos val="l"/>
        <c:majorGridlines>
          <c:spPr>
            <a:ln w="3175">
              <a:solidFill>
                <a:srgbClr val="E2E8F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/>
          <a:lstStyle/>
          <a:p>
            <a:pPr>
              <a:defRPr sz="1200" b="0" i="0" u="none" strike="noStrike" baseline="0">
                <a:solidFill>
                  <a:srgbClr val="4A4A4A"/>
                </a:solidFill>
                <a:latin typeface="Arial"/>
                <a:ea typeface="Droid Sans"/>
                <a:cs typeface="Lucida Sans"/>
              </a:defRPr>
            </a:pPr>
            <a:endParaRPr lang="zh-CN"/>
          </a:p>
        </c:txPr>
        <c:crosses val="autoZero"/>
        <c:crossBetween val="between"/>
        <c:crossAx val="0"/>
      </c:valAx>
      <c:spPr>
        <a:noFill/>
        <a:ln>
          <a:noFill/>
        </a:ln>
      </c:spPr>
    </c:plotArea>
    <c:plotVisOnly val="1"/>
    <c:dispBlanksAs val="span"/>
    <c:showDLblsOverMax val="0"/>
  </c:chart>
  <c:spPr>
    <a:solidFill>
      <a:srgbClr val="FFFFFF"/>
    </a:solidFill>
    <a:ln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Droid Sans"/>
          <a:ea typeface="Droid Sans"/>
          <a:cs typeface="Lucida Sans"/>
        </a:defRPr>
      </a:pPr>
      <a:endParaRPr lang="zh-CN"/>
    </a:p>
  </c:txPr>
  <c:printSettings>
    <c:headerFooter/>
    <c:pageMargins b="0.75" l="0.7" r="0.7" t="0.75" header="0.3" footer="0.3"/>
    <c:pageSetup/>
  </c:printSettings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6/11/2026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6" name="文本框"/>
          <p:cNvSpPr>
            <a:spLocks noGrp="1"/>
          </p:cNvSpPr>
          <p:nvPr>
            <p:ph type="body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019845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762193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9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946784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1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909873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7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96898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1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392850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4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5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211668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9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0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214160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8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9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219159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1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42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31291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5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56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624940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9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489728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3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04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713335"/>
      </p:ext>
    </p:extLst>
  </p:cSld>
  <p:clrMapOvr>
    <a:masterClrMapping/>
  </p:clrMapOvr>
</p:notes>
</file>

<file path=ppt/notesSlides/notesSlide1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6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17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994137"/>
      </p:ext>
    </p:extLst>
  </p:cSld>
  <p:clrMapOvr>
    <a:masterClrMapping/>
  </p:clrMapOvr>
</p:notes>
</file>

<file path=ppt/notesSlides/notesSlide1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0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41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09970"/>
      </p:ext>
    </p:extLst>
  </p:cSld>
  <p:clrMapOvr>
    <a:masterClrMapping/>
  </p:clrMapOvr>
</p:notes>
</file>

<file path=ppt/notesSlides/notesSlide1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8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49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1809"/>
      </p:ext>
    </p:extLst>
  </p:cSld>
  <p:clrMapOvr>
    <a:masterClrMapping/>
  </p:clrMapOvr>
</p:notes>
</file>

<file path=ppt/notesSlides/notesSlide1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3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74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729957"/>
      </p:ext>
    </p:extLst>
  </p:cSld>
  <p:clrMapOvr>
    <a:masterClrMapping/>
  </p:clrMapOvr>
</p:notes>
</file>

<file path=ppt/notesSlides/notesSlide1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7" name="对象"/>
          <p:cNvSpPr>
            <a:spLocks noGrp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78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21648"/>
      </p:ext>
    </p:extLst>
  </p:cSld>
  <p:clrMapOvr>
    <a:masterClrMapping/>
  </p:clrMapOvr>
</p:notes>
</file>

<file path=ppt/notesSlides/notesSlide1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1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82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705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281173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435790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53149119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267367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732099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85133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839954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74235747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36371432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132446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04614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096644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08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"/>
          <p:cNvSpPr>
            <a:spLocks/>
          </p:cNvSpPr>
          <p:nvPr/>
        </p:nvSpPr>
        <p:spPr>
          <a:xfrm rot="0">
            <a:off x="457200" y="1828800"/>
            <a:ext cx="8229600" cy="10972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Reducing LLM Hallucinations</a:t>
            </a:r>
            <a:endParaRPr lang="zh-CN" altLang="en-US" sz="4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" name="矩形"/>
          <p:cNvSpPr>
            <a:spLocks/>
          </p:cNvSpPr>
          <p:nvPr/>
        </p:nvSpPr>
        <p:spPr>
          <a:xfrm rot="0">
            <a:off x="457200" y="3017519"/>
            <a:ext cx="822960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1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via Structured Knowledge Integration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97947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My Objective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" name="矩形"/>
          <p:cNvSpPr>
            <a:spLocks/>
          </p:cNvSpPr>
          <p:nvPr/>
        </p:nvSpPr>
        <p:spPr>
          <a:xfrm rot="0">
            <a:off x="457200" y="914400"/>
            <a:ext cx="8229600" cy="54862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14" name="矩形"/>
          <p:cNvSpPr>
            <a:spLocks/>
          </p:cNvSpPr>
          <p:nvPr/>
        </p:nvSpPr>
        <p:spPr>
          <a:xfrm rot="0">
            <a:off x="457200" y="1188720"/>
            <a:ext cx="822960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Why This Topic?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 rot="0">
            <a:off x="731520" y="1691639"/>
            <a:ext cx="7955280" cy="1371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Large Language Models like ChatGPT are powerful, but they often generate false information confidently. This is called "hallucination."
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healthcare, law, and finance, even one hallucination can be catastrophic.
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This report explores how researchers are solving this architectural problem using Knowledge Graphs and neuro-symbolic AI.
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 rot="0">
            <a:off x="457200" y="3200400"/>
            <a:ext cx="82296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My Learning Goals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 rot="0">
            <a:off x="731520" y="3703319"/>
            <a:ext cx="7955280" cy="10972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Understand the root causes of hallucinations in LLMs
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Learn how Knowledge Graphs and neuro-symbolic AI provide solutions
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Explore practical frameworks (NIT Durgapur &amp; MKG) that reduce hallucinations
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3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Understand real-world challenges and proposed improvements
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109626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Problems in Traditional LLMs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 rot="0">
            <a:off x="457200" y="914400"/>
            <a:ext cx="8229600" cy="54862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22" name="矩形"/>
          <p:cNvSpPr>
            <a:spLocks/>
          </p:cNvSpPr>
          <p:nvPr/>
        </p:nvSpPr>
        <p:spPr>
          <a:xfrm rot="0">
            <a:off x="731520" y="1188720"/>
            <a:ext cx="2286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Hallucinations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" name="矩形"/>
          <p:cNvSpPr>
            <a:spLocks/>
          </p:cNvSpPr>
          <p:nvPr/>
        </p:nvSpPr>
        <p:spPr>
          <a:xfrm rot="0">
            <a:off x="731520" y="1508758"/>
            <a:ext cx="7955280" cy="4114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Outputs sound correct and look convincing, but are factually false or completely fabricated.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" name="矩形"/>
          <p:cNvSpPr>
            <a:spLocks/>
          </p:cNvSpPr>
          <p:nvPr/>
        </p:nvSpPr>
        <p:spPr>
          <a:xfrm rot="0">
            <a:off x="731520" y="2057400"/>
            <a:ext cx="22860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Implicit Knowledge Storage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" name="矩形"/>
          <p:cNvSpPr>
            <a:spLocks/>
          </p:cNvSpPr>
          <p:nvPr/>
        </p:nvSpPr>
        <p:spPr>
          <a:xfrm rot="0">
            <a:off x="731520" y="2377440"/>
            <a:ext cx="795528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Facts are distributed across billions of floating-point weights. No direct access to verify.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" name="矩形"/>
          <p:cNvSpPr>
            <a:spLocks/>
          </p:cNvSpPr>
          <p:nvPr/>
        </p:nvSpPr>
        <p:spPr>
          <a:xfrm rot="0">
            <a:off x="731520" y="2926080"/>
            <a:ext cx="2286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Probabilistic Generation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 rot="0">
            <a:off x="731520" y="3246120"/>
            <a:ext cx="79552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LLMs predict the most probable next token, not the most factual one.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731520" y="3794760"/>
            <a:ext cx="2286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Open-Loop Architecture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 rot="0">
            <a:off x="731520" y="4114800"/>
            <a:ext cx="79552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 internal verification step. Generated outputs have no fact-checking mechanism.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242600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Core Issue: Scaling Doesn't Help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457200" y="914400"/>
            <a:ext cx="8229600" cy="54862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34" name="圆角矩形"/>
          <p:cNvSpPr>
            <a:spLocks/>
          </p:cNvSpPr>
          <p:nvPr/>
        </p:nvSpPr>
        <p:spPr>
          <a:xfrm rot="0">
            <a:off x="457200" y="1035936"/>
            <a:ext cx="8229600" cy="2539678"/>
          </a:xfrm>
          <a:prstGeom prst="roundRect">
            <a:avLst>
              <a:gd name="adj" fmla="val 6819"/>
            </a:avLst>
          </a:prstGeom>
          <a:solidFill>
            <a:srgbClr val="E8F1F8"/>
          </a:solidFill>
          <a:ln w="254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35" name="矩形"/>
          <p:cNvSpPr>
            <a:spLocks/>
          </p:cNvSpPr>
          <p:nvPr/>
        </p:nvSpPr>
        <p:spPr>
          <a:xfrm rot="0">
            <a:off x="731520" y="1371600"/>
            <a:ext cx="7680960" cy="1645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Common Misconception: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A1A1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"Making models larger will solve hallucination."
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Reality: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A1A1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Hallucination is a </a:t>
            </a:r>
            <a:r>
              <a:rPr lang="en-US" altLang="zh-CN" sz="13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fundamental architectural problem</a:t>
            </a:r>
            <a:r>
              <a:rPr lang="en-US" altLang="zh-CN" sz="1300" b="0" i="0" u="none" strike="noStrike" kern="1200" cap="none" spc="0" baseline="0">
                <a:solidFill>
                  <a:srgbClr val="1A1A1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that larger models still suffer from.
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Solution: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A1A1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Redesign the architecture with external verification and fact-checking loops.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572466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What is a Knowledge Graph?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" name="矩形"/>
          <p:cNvSpPr>
            <a:spLocks/>
          </p:cNvSpPr>
          <p:nvPr/>
        </p:nvSpPr>
        <p:spPr>
          <a:xfrm rot="0">
            <a:off x="457200" y="914400"/>
            <a:ext cx="8229600" cy="54862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40" name="矩形"/>
          <p:cNvSpPr>
            <a:spLocks/>
          </p:cNvSpPr>
          <p:nvPr/>
        </p:nvSpPr>
        <p:spPr>
          <a:xfrm rot="0">
            <a:off x="457200" y="1188720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Definition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 rot="0">
            <a:off x="731520" y="1508758"/>
            <a:ext cx="795528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 structured network storing facts as triples: (Head Entity) --[Relation]→ (Tail Entity)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" name="矩形"/>
          <p:cNvSpPr>
            <a:spLocks/>
          </p:cNvSpPr>
          <p:nvPr/>
        </p:nvSpPr>
        <p:spPr>
          <a:xfrm rot="0">
            <a:off x="457200" y="2011679"/>
            <a:ext cx="82296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Example: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" name="圆角矩形"/>
          <p:cNvSpPr>
            <a:spLocks/>
          </p:cNvSpPr>
          <p:nvPr/>
        </p:nvSpPr>
        <p:spPr>
          <a:xfrm rot="0">
            <a:off x="914400" y="23774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44" name="矩形"/>
          <p:cNvSpPr>
            <a:spLocks/>
          </p:cNvSpPr>
          <p:nvPr/>
        </p:nvSpPr>
        <p:spPr>
          <a:xfrm rot="0">
            <a:off x="914400" y="2377440"/>
            <a:ext cx="1828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Marie Curie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" name="矩形"/>
          <p:cNvSpPr>
            <a:spLocks/>
          </p:cNvSpPr>
          <p:nvPr/>
        </p:nvSpPr>
        <p:spPr>
          <a:xfrm rot="0">
            <a:off x="2926080" y="2423160"/>
            <a:ext cx="137160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--won→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" name="圆角矩形"/>
          <p:cNvSpPr>
            <a:spLocks/>
          </p:cNvSpPr>
          <p:nvPr/>
        </p:nvSpPr>
        <p:spPr>
          <a:xfrm rot="0">
            <a:off x="4480560" y="23774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47" name="矩形"/>
          <p:cNvSpPr>
            <a:spLocks/>
          </p:cNvSpPr>
          <p:nvPr/>
        </p:nvSpPr>
        <p:spPr>
          <a:xfrm rot="0">
            <a:off x="4480560" y="2377440"/>
            <a:ext cx="1828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Nobel Prize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" name="矩形"/>
          <p:cNvSpPr>
            <a:spLocks/>
          </p:cNvSpPr>
          <p:nvPr/>
        </p:nvSpPr>
        <p:spPr>
          <a:xfrm rot="0">
            <a:off x="457200" y="3108960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Why Knowledge Graphs Help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" name="矩形"/>
          <p:cNvSpPr>
            <a:spLocks/>
          </p:cNvSpPr>
          <p:nvPr/>
        </p:nvSpPr>
        <p:spPr>
          <a:xfrm rot="0">
            <a:off x="731520" y="3474720"/>
            <a:ext cx="7955280" cy="11887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Discrete &amp; Deterministic: </a:t>
            </a:r>
            <a:r>
              <a:rPr lang="en-US" altLang="zh-CN" sz="12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Facts are stored explicitly, not distributed in weights.
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Queryable: </a:t>
            </a:r>
            <a:r>
              <a:rPr lang="en-US" altLang="zh-CN" sz="12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Can directly retrieve and verify facts.
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Traceable: </a:t>
            </a:r>
            <a:r>
              <a:rPr lang="en-US" altLang="zh-CN" sz="12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Every fact has a source for verification.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070079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Neuro-Symbolic AI: Combining Two Approaches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" name="矩形"/>
          <p:cNvSpPr>
            <a:spLocks/>
          </p:cNvSpPr>
          <p:nvPr/>
        </p:nvSpPr>
        <p:spPr>
          <a:xfrm rot="0">
            <a:off x="428625" y="1085847"/>
            <a:ext cx="8229600" cy="54862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54" name="矩形"/>
          <p:cNvSpPr>
            <a:spLocks/>
          </p:cNvSpPr>
          <p:nvPr/>
        </p:nvSpPr>
        <p:spPr>
          <a:xfrm rot="0">
            <a:off x="457200" y="1188720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Idea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" name="矩形"/>
          <p:cNvSpPr>
            <a:spLocks/>
          </p:cNvSpPr>
          <p:nvPr/>
        </p:nvSpPr>
        <p:spPr>
          <a:xfrm rot="0">
            <a:off x="731520" y="1508758"/>
            <a:ext cx="795528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Combine the strengths of neural networks (language understanding) with symbolic systems (factual grounding)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" name="圆角矩形"/>
          <p:cNvSpPr>
            <a:spLocks/>
          </p:cNvSpPr>
          <p:nvPr/>
        </p:nvSpPr>
        <p:spPr>
          <a:xfrm rot="0">
            <a:off x="457200" y="2011679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E8F1F8"/>
          </a:solidFill>
          <a:ln w="127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57" name="矩形"/>
          <p:cNvSpPr>
            <a:spLocks/>
          </p:cNvSpPr>
          <p:nvPr/>
        </p:nvSpPr>
        <p:spPr>
          <a:xfrm rot="0">
            <a:off x="640080" y="2148840"/>
            <a:ext cx="237744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LLMs (Neural)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" name="矩形"/>
          <p:cNvSpPr>
            <a:spLocks/>
          </p:cNvSpPr>
          <p:nvPr/>
        </p:nvSpPr>
        <p:spPr>
          <a:xfrm rot="0">
            <a:off x="640080" y="2697480"/>
            <a:ext cx="237744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Strengths: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" name="矩形"/>
          <p:cNvSpPr>
            <a:spLocks/>
          </p:cNvSpPr>
          <p:nvPr/>
        </p:nvSpPr>
        <p:spPr>
          <a:xfrm rot="0">
            <a:off x="640080" y="2971799"/>
            <a:ext cx="2377440" cy="5486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Excellent language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understanding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" name="矩形"/>
          <p:cNvSpPr>
            <a:spLocks/>
          </p:cNvSpPr>
          <p:nvPr/>
        </p:nvSpPr>
        <p:spPr>
          <a:xfrm rot="0">
            <a:off x="640080" y="3611880"/>
            <a:ext cx="237744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Challenges: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" name="矩形"/>
          <p:cNvSpPr>
            <a:spLocks/>
          </p:cNvSpPr>
          <p:nvPr/>
        </p:nvSpPr>
        <p:spPr>
          <a:xfrm rot="0">
            <a:off x="640080" y="3886200"/>
            <a:ext cx="23774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Prone to hallucinations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 factual grounding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" name="圆角矩形"/>
          <p:cNvSpPr>
            <a:spLocks/>
          </p:cNvSpPr>
          <p:nvPr/>
        </p:nvSpPr>
        <p:spPr>
          <a:xfrm rot="0">
            <a:off x="3337560" y="2011679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E8F1F8"/>
          </a:solidFill>
          <a:ln w="127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63" name="矩形"/>
          <p:cNvSpPr>
            <a:spLocks/>
          </p:cNvSpPr>
          <p:nvPr/>
        </p:nvSpPr>
        <p:spPr>
          <a:xfrm rot="0">
            <a:off x="3520440" y="2148840"/>
            <a:ext cx="237744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Knowledge Graphs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(Symbolic)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" name="矩形"/>
          <p:cNvSpPr>
            <a:spLocks/>
          </p:cNvSpPr>
          <p:nvPr/>
        </p:nvSpPr>
        <p:spPr>
          <a:xfrm rot="0">
            <a:off x="3520440" y="2697480"/>
            <a:ext cx="237744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Strengths: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" name="矩形"/>
          <p:cNvSpPr>
            <a:spLocks/>
          </p:cNvSpPr>
          <p:nvPr/>
        </p:nvSpPr>
        <p:spPr>
          <a:xfrm rot="0">
            <a:off x="3520440" y="2971799"/>
            <a:ext cx="2377440" cy="5486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Precise factual info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Full verification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" name="矩形"/>
          <p:cNvSpPr>
            <a:spLocks/>
          </p:cNvSpPr>
          <p:nvPr/>
        </p:nvSpPr>
        <p:spPr>
          <a:xfrm rot="0">
            <a:off x="3520440" y="3611880"/>
            <a:ext cx="237744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Challenges: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" name="矩形"/>
          <p:cNvSpPr>
            <a:spLocks/>
          </p:cNvSpPr>
          <p:nvPr/>
        </p:nvSpPr>
        <p:spPr>
          <a:xfrm rot="0">
            <a:off x="3520440" y="3886200"/>
            <a:ext cx="23774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Limited flexibility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Rigid structure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" name="圆角矩形"/>
          <p:cNvSpPr>
            <a:spLocks/>
          </p:cNvSpPr>
          <p:nvPr/>
        </p:nvSpPr>
        <p:spPr>
          <a:xfrm rot="0">
            <a:off x="6217920" y="2011679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E8F1F8"/>
          </a:solidFill>
          <a:ln w="127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69" name="矩形"/>
          <p:cNvSpPr>
            <a:spLocks/>
          </p:cNvSpPr>
          <p:nvPr/>
        </p:nvSpPr>
        <p:spPr>
          <a:xfrm rot="0">
            <a:off x="6400800" y="2148840"/>
            <a:ext cx="237744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Neuro-Symbolic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(Hybrid)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" name="矩形"/>
          <p:cNvSpPr>
            <a:spLocks/>
          </p:cNvSpPr>
          <p:nvPr/>
        </p:nvSpPr>
        <p:spPr>
          <a:xfrm rot="0">
            <a:off x="6400800" y="2697480"/>
            <a:ext cx="237744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Strengths: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" name="矩形"/>
          <p:cNvSpPr>
            <a:spLocks/>
          </p:cNvSpPr>
          <p:nvPr/>
        </p:nvSpPr>
        <p:spPr>
          <a:xfrm rot="0">
            <a:off x="6400800" y="2971799"/>
            <a:ext cx="2377440" cy="5486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LLM + KG verification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Trustworthy AI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" name="矩形"/>
          <p:cNvSpPr>
            <a:spLocks/>
          </p:cNvSpPr>
          <p:nvPr/>
        </p:nvSpPr>
        <p:spPr>
          <a:xfrm rot="0">
            <a:off x="6400800" y="3611880"/>
            <a:ext cx="237744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Challenges: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" name="矩形"/>
          <p:cNvSpPr>
            <a:spLocks/>
          </p:cNvSpPr>
          <p:nvPr/>
        </p:nvSpPr>
        <p:spPr>
          <a:xfrm rot="0">
            <a:off x="6400800" y="3886200"/>
            <a:ext cx="23774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Higher computation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Complex architecture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934178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NIT Durgapur: 4-Phase Pipeline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" name="矩形"/>
          <p:cNvSpPr>
            <a:spLocks/>
          </p:cNvSpPr>
          <p:nvPr/>
        </p:nvSpPr>
        <p:spPr>
          <a:xfrm rot="0">
            <a:off x="457200" y="914400"/>
            <a:ext cx="8229600" cy="54862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78" name="矩形"/>
          <p:cNvSpPr>
            <a:spLocks/>
          </p:cNvSpPr>
          <p:nvPr/>
        </p:nvSpPr>
        <p:spPr>
          <a:xfrm rot="0">
            <a:off x="457200" y="1188720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Four Research Questions (RQs) - Four Solutions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9" name="矩形"/>
          <p:cNvSpPr>
            <a:spLocks/>
          </p:cNvSpPr>
          <p:nvPr/>
        </p:nvSpPr>
        <p:spPr>
          <a:xfrm rot="0">
            <a:off x="457200" y="1645920"/>
            <a:ext cx="73151" cy="822960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80" name="矩形"/>
          <p:cNvSpPr>
            <a:spLocks/>
          </p:cNvSpPr>
          <p:nvPr/>
        </p:nvSpPr>
        <p:spPr>
          <a:xfrm rot="0">
            <a:off x="640080" y="1645920"/>
            <a:ext cx="91439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RQ1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" name="矩形"/>
          <p:cNvSpPr>
            <a:spLocks/>
          </p:cNvSpPr>
          <p:nvPr/>
        </p:nvSpPr>
        <p:spPr>
          <a:xfrm rot="0">
            <a:off x="1645920" y="1645920"/>
            <a:ext cx="32004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Ontological Alignment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2" name="矩形"/>
          <p:cNvSpPr>
            <a:spLocks/>
          </p:cNvSpPr>
          <p:nvPr/>
        </p:nvSpPr>
        <p:spPr>
          <a:xfrm rot="0">
            <a:off x="1645920" y="1965960"/>
            <a:ext cx="3200400" cy="3200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Convert LLM text to KG-compatible triples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3" name="矩形"/>
          <p:cNvSpPr>
            <a:spLocks/>
          </p:cNvSpPr>
          <p:nvPr/>
        </p:nvSpPr>
        <p:spPr>
          <a:xfrm rot="0">
            <a:off x="5120640" y="1737360"/>
            <a:ext cx="356616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31% hallucination ↓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4" name="矩形"/>
          <p:cNvSpPr>
            <a:spLocks/>
          </p:cNvSpPr>
          <p:nvPr/>
        </p:nvSpPr>
        <p:spPr>
          <a:xfrm rot="0">
            <a:off x="457200" y="2560320"/>
            <a:ext cx="73151" cy="822960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85" name="矩形"/>
          <p:cNvSpPr>
            <a:spLocks/>
          </p:cNvSpPr>
          <p:nvPr/>
        </p:nvSpPr>
        <p:spPr>
          <a:xfrm rot="0">
            <a:off x="640080" y="2560320"/>
            <a:ext cx="91439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RQ2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6" name="矩形"/>
          <p:cNvSpPr>
            <a:spLocks/>
          </p:cNvSpPr>
          <p:nvPr/>
        </p:nvSpPr>
        <p:spPr>
          <a:xfrm rot="0">
            <a:off x="1645920" y="2560320"/>
            <a:ext cx="32004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Self-Verification Loop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7" name="矩形"/>
          <p:cNvSpPr>
            <a:spLocks/>
          </p:cNvSpPr>
          <p:nvPr/>
        </p:nvSpPr>
        <p:spPr>
          <a:xfrm rot="0">
            <a:off x="1645920" y="2880360"/>
            <a:ext cx="32004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Generate → Validate → Refine cycle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8" name="矩形"/>
          <p:cNvSpPr>
            <a:spLocks/>
          </p:cNvSpPr>
          <p:nvPr/>
        </p:nvSpPr>
        <p:spPr>
          <a:xfrm rot="0">
            <a:off x="5120640" y="2651760"/>
            <a:ext cx="356616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Closed-loop correction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9" name="矩形"/>
          <p:cNvSpPr>
            <a:spLocks/>
          </p:cNvSpPr>
          <p:nvPr/>
        </p:nvSpPr>
        <p:spPr>
          <a:xfrm rot="0">
            <a:off x="457200" y="3474720"/>
            <a:ext cx="73151" cy="822959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90" name="矩形"/>
          <p:cNvSpPr>
            <a:spLocks/>
          </p:cNvSpPr>
          <p:nvPr/>
        </p:nvSpPr>
        <p:spPr>
          <a:xfrm rot="0">
            <a:off x="640080" y="3474720"/>
            <a:ext cx="91439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RQ3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1" name="矩形"/>
          <p:cNvSpPr>
            <a:spLocks/>
          </p:cNvSpPr>
          <p:nvPr/>
        </p:nvSpPr>
        <p:spPr>
          <a:xfrm rot="0">
            <a:off x="1645920" y="3474720"/>
            <a:ext cx="32004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Uncertainty Estimation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2" name="矩形"/>
          <p:cNvSpPr>
            <a:spLocks/>
          </p:cNvSpPr>
          <p:nvPr/>
        </p:nvSpPr>
        <p:spPr>
          <a:xfrm rot="0">
            <a:off x="1645920" y="3794760"/>
            <a:ext cx="32004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Smart gating: verify only when uncertain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3" name="矩形"/>
          <p:cNvSpPr>
            <a:spLocks/>
          </p:cNvSpPr>
          <p:nvPr/>
        </p:nvSpPr>
        <p:spPr>
          <a:xfrm rot="0">
            <a:off x="5120640" y="3566160"/>
            <a:ext cx="356616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Saves computation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4" name="矩形"/>
          <p:cNvSpPr>
            <a:spLocks/>
          </p:cNvSpPr>
          <p:nvPr/>
        </p:nvSpPr>
        <p:spPr>
          <a:xfrm rot="0">
            <a:off x="457200" y="4389120"/>
            <a:ext cx="73151" cy="822958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95" name="矩形"/>
          <p:cNvSpPr>
            <a:spLocks/>
          </p:cNvSpPr>
          <p:nvPr/>
        </p:nvSpPr>
        <p:spPr>
          <a:xfrm rot="0">
            <a:off x="640080" y="4389120"/>
            <a:ext cx="91439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RQ4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6" name="矩形"/>
          <p:cNvSpPr>
            <a:spLocks/>
          </p:cNvSpPr>
          <p:nvPr/>
        </p:nvSpPr>
        <p:spPr>
          <a:xfrm rot="0">
            <a:off x="1645920" y="4389120"/>
            <a:ext cx="32004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Conflict Resolution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7" name="矩形"/>
          <p:cNvSpPr>
            <a:spLocks/>
          </p:cNvSpPr>
          <p:nvPr/>
        </p:nvSpPr>
        <p:spPr>
          <a:xfrm rot="0">
            <a:off x="1645920" y="4709160"/>
            <a:ext cx="32004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Handle disagreements using Bayesian trust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8" name="矩形"/>
          <p:cNvSpPr>
            <a:spLocks/>
          </p:cNvSpPr>
          <p:nvPr/>
        </p:nvSpPr>
        <p:spPr>
          <a:xfrm rot="0">
            <a:off x="5120640" y="4480560"/>
            <a:ext cx="356616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94% accuracy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803580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RQ1: Ontological Alignment (Extraction Layer)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2" name="矩形"/>
          <p:cNvSpPr>
            <a:spLocks/>
          </p:cNvSpPr>
          <p:nvPr/>
        </p:nvSpPr>
        <p:spPr>
          <a:xfrm rot="0">
            <a:off x="352426" y="1076322"/>
            <a:ext cx="8229600" cy="54862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103" name="矩形"/>
          <p:cNvSpPr>
            <a:spLocks/>
          </p:cNvSpPr>
          <p:nvPr/>
        </p:nvSpPr>
        <p:spPr>
          <a:xfrm rot="0">
            <a:off x="457200" y="1188720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What is the Problem?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4" name="矩形"/>
          <p:cNvSpPr>
            <a:spLocks/>
          </p:cNvSpPr>
          <p:nvPr/>
        </p:nvSpPr>
        <p:spPr>
          <a:xfrm rot="0">
            <a:off x="731520" y="1508758"/>
            <a:ext cx="795528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LLM outputs are fluid, natural language. But Knowledge Graphs need structured, discrete triples.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5" name="矩形"/>
          <p:cNvSpPr>
            <a:spLocks/>
          </p:cNvSpPr>
          <p:nvPr/>
        </p:nvSpPr>
        <p:spPr>
          <a:xfrm rot="0">
            <a:off x="457200" y="2148840"/>
            <a:ext cx="82296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Solution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6" name="矩形"/>
          <p:cNvSpPr>
            <a:spLocks/>
          </p:cNvSpPr>
          <p:nvPr/>
        </p:nvSpPr>
        <p:spPr>
          <a:xfrm rot="0">
            <a:off x="731520" y="2468880"/>
            <a:ext cx="795528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Use adapter layers to convert natural language → KG triples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7" name="圆角矩形"/>
          <p:cNvSpPr>
            <a:spLocks/>
          </p:cNvSpPr>
          <p:nvPr/>
        </p:nvSpPr>
        <p:spPr>
          <a:xfrm rot="0">
            <a:off x="914400" y="3017519"/>
            <a:ext cx="1554480" cy="640079"/>
          </a:xfrm>
          <a:prstGeom prst="roundRect">
            <a:avLst>
              <a:gd name="adj" fmla="val 11430"/>
            </a:avLst>
          </a:prstGeom>
          <a:solidFill>
            <a:srgbClr val="E8F1F8"/>
          </a:solidFill>
          <a:ln w="12700" cmpd="sng" cap="flat">
            <a:noFill/>
            <a:prstDash val="solid"/>
            <a:miter/>
          </a:ln>
        </p:spPr>
      </p:sp>
      <p:sp>
        <p:nvSpPr>
          <p:cNvPr id="108" name="矩形"/>
          <p:cNvSpPr>
            <a:spLocks/>
          </p:cNvSpPr>
          <p:nvPr/>
        </p:nvSpPr>
        <p:spPr>
          <a:xfrm rot="0">
            <a:off x="914400" y="3017519"/>
            <a:ext cx="155448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LLM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Output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9" name="圆角矩形"/>
          <p:cNvSpPr>
            <a:spLocks/>
          </p:cNvSpPr>
          <p:nvPr/>
        </p:nvSpPr>
        <p:spPr>
          <a:xfrm rot="0">
            <a:off x="2697480" y="3017519"/>
            <a:ext cx="1554480" cy="640079"/>
          </a:xfrm>
          <a:prstGeom prst="roundRect">
            <a:avLst>
              <a:gd name="adj" fmla="val 11430"/>
            </a:avLst>
          </a:prstGeom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110" name="矩形"/>
          <p:cNvSpPr>
            <a:spLocks/>
          </p:cNvSpPr>
          <p:nvPr/>
        </p:nvSpPr>
        <p:spPr>
          <a:xfrm rot="0">
            <a:off x="2697480" y="3017519"/>
            <a:ext cx="155448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Adapter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Layer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1" name="圆角矩形"/>
          <p:cNvSpPr>
            <a:spLocks/>
          </p:cNvSpPr>
          <p:nvPr/>
        </p:nvSpPr>
        <p:spPr>
          <a:xfrm rot="0">
            <a:off x="4480560" y="3017519"/>
            <a:ext cx="1554479" cy="640079"/>
          </a:xfrm>
          <a:prstGeom prst="roundRect">
            <a:avLst>
              <a:gd name="adj" fmla="val 11430"/>
            </a:avLst>
          </a:prstGeom>
          <a:solidFill>
            <a:srgbClr val="E8F1F8"/>
          </a:solidFill>
          <a:ln w="12700" cmpd="sng" cap="flat">
            <a:noFill/>
            <a:prstDash val="solid"/>
            <a:miter/>
          </a:ln>
        </p:spPr>
      </p:sp>
      <p:sp>
        <p:nvSpPr>
          <p:cNvPr id="112" name="矩形"/>
          <p:cNvSpPr>
            <a:spLocks/>
          </p:cNvSpPr>
          <p:nvPr/>
        </p:nvSpPr>
        <p:spPr>
          <a:xfrm rot="0">
            <a:off x="4480560" y="3017519"/>
            <a:ext cx="1554479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KG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Triples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3" name="圆角矩形"/>
          <p:cNvSpPr>
            <a:spLocks/>
          </p:cNvSpPr>
          <p:nvPr/>
        </p:nvSpPr>
        <p:spPr>
          <a:xfrm rot="0">
            <a:off x="6263640" y="3017519"/>
            <a:ext cx="1554480" cy="640079"/>
          </a:xfrm>
          <a:prstGeom prst="roundRect">
            <a:avLst>
              <a:gd name="adj" fmla="val 11430"/>
            </a:avLst>
          </a:prstGeom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114" name="矩形"/>
          <p:cNvSpPr>
            <a:spLocks/>
          </p:cNvSpPr>
          <p:nvPr/>
        </p:nvSpPr>
        <p:spPr>
          <a:xfrm rot="0">
            <a:off x="6263640" y="3017519"/>
            <a:ext cx="155448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Verified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Facts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5" name="矩形"/>
          <p:cNvSpPr>
            <a:spLocks/>
          </p:cNvSpPr>
          <p:nvPr/>
        </p:nvSpPr>
        <p:spPr>
          <a:xfrm rot="0">
            <a:off x="457200" y="3931920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Results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6" name="圆角矩形"/>
          <p:cNvSpPr>
            <a:spLocks/>
          </p:cNvSpPr>
          <p:nvPr/>
        </p:nvSpPr>
        <p:spPr>
          <a:xfrm rot="0">
            <a:off x="457200" y="4297680"/>
            <a:ext cx="8229600" cy="640078"/>
          </a:xfrm>
          <a:prstGeom prst="roundRect">
            <a:avLst>
              <a:gd name="adj" fmla="val 11430"/>
            </a:avLst>
          </a:prstGeom>
          <a:solidFill>
            <a:srgbClr val="E8F1F8"/>
          </a:solidFill>
          <a:ln w="127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117" name="矩形"/>
          <p:cNvSpPr>
            <a:spLocks/>
          </p:cNvSpPr>
          <p:nvPr/>
        </p:nvSpPr>
        <p:spPr>
          <a:xfrm rot="0">
            <a:off x="731520" y="4434840"/>
            <a:ext cx="768096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31% reduction in hallucination rates </a:t>
            </a:r>
            <a:r>
              <a:rPr lang="en-US" altLang="zh-CN" sz="12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by enforcing structural consistency between LLM outputs and KG format.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691764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RQ2: Self-Verification Loop (Engine of Correction)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1" name="矩形"/>
          <p:cNvSpPr>
            <a:spLocks/>
          </p:cNvSpPr>
          <p:nvPr/>
        </p:nvSpPr>
        <p:spPr>
          <a:xfrm rot="0">
            <a:off x="409575" y="1019173"/>
            <a:ext cx="8229600" cy="54862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122" name="矩形"/>
          <p:cNvSpPr>
            <a:spLocks/>
          </p:cNvSpPr>
          <p:nvPr/>
        </p:nvSpPr>
        <p:spPr>
          <a:xfrm rot="0">
            <a:off x="457200" y="1188720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Core Mechanism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3" name="圆角矩形"/>
          <p:cNvSpPr>
            <a:spLocks/>
          </p:cNvSpPr>
          <p:nvPr/>
        </p:nvSpPr>
        <p:spPr>
          <a:xfrm rot="0">
            <a:off x="731520" y="1645920"/>
            <a:ext cx="2425378" cy="1609916"/>
          </a:xfrm>
          <a:prstGeom prst="roundRect">
            <a:avLst>
              <a:gd name="adj" fmla="val 6666"/>
            </a:avLst>
          </a:prstGeom>
          <a:solidFill>
            <a:srgbClr val="E8F1F8"/>
          </a:solidFill>
          <a:ln w="254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124" name="椭圆"/>
          <p:cNvSpPr>
            <a:spLocks/>
          </p:cNvSpPr>
          <p:nvPr/>
        </p:nvSpPr>
        <p:spPr>
          <a:xfrm rot="0">
            <a:off x="1645920" y="1783080"/>
            <a:ext cx="548640" cy="548640"/>
          </a:xfrm>
          <a:prstGeom prst="ellipse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125" name="矩形"/>
          <p:cNvSpPr>
            <a:spLocks/>
          </p:cNvSpPr>
          <p:nvPr/>
        </p:nvSpPr>
        <p:spPr>
          <a:xfrm rot="0">
            <a:off x="1645920" y="1783080"/>
            <a:ext cx="5486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6" name="矩形"/>
          <p:cNvSpPr>
            <a:spLocks/>
          </p:cNvSpPr>
          <p:nvPr/>
        </p:nvSpPr>
        <p:spPr>
          <a:xfrm rot="0">
            <a:off x="914400" y="2468880"/>
            <a:ext cx="201167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GENERATE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7" name="矩形"/>
          <p:cNvSpPr>
            <a:spLocks/>
          </p:cNvSpPr>
          <p:nvPr/>
        </p:nvSpPr>
        <p:spPr>
          <a:xfrm rot="0">
            <a:off x="914400" y="2788920"/>
            <a:ext cx="2011679" cy="5486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LLM produces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initial response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8" name="圆角矩形"/>
          <p:cNvSpPr>
            <a:spLocks/>
          </p:cNvSpPr>
          <p:nvPr/>
        </p:nvSpPr>
        <p:spPr>
          <a:xfrm rot="0">
            <a:off x="3474720" y="1645920"/>
            <a:ext cx="2407457" cy="1620212"/>
          </a:xfrm>
          <a:prstGeom prst="roundRect">
            <a:avLst>
              <a:gd name="adj" fmla="val 6666"/>
            </a:avLst>
          </a:prstGeom>
          <a:solidFill>
            <a:srgbClr val="E8F1F8"/>
          </a:solidFill>
          <a:ln w="254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129" name="椭圆"/>
          <p:cNvSpPr>
            <a:spLocks/>
          </p:cNvSpPr>
          <p:nvPr/>
        </p:nvSpPr>
        <p:spPr>
          <a:xfrm rot="0">
            <a:off x="4389120" y="1783080"/>
            <a:ext cx="548640" cy="548640"/>
          </a:xfrm>
          <a:prstGeom prst="ellipse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130" name="矩形"/>
          <p:cNvSpPr>
            <a:spLocks/>
          </p:cNvSpPr>
          <p:nvPr/>
        </p:nvSpPr>
        <p:spPr>
          <a:xfrm rot="0">
            <a:off x="4389120" y="1783080"/>
            <a:ext cx="5486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1" name="矩形"/>
          <p:cNvSpPr>
            <a:spLocks/>
          </p:cNvSpPr>
          <p:nvPr/>
        </p:nvSpPr>
        <p:spPr>
          <a:xfrm rot="0">
            <a:off x="3657600" y="2468880"/>
            <a:ext cx="201167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VALIDATE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2" name="矩形"/>
          <p:cNvSpPr>
            <a:spLocks/>
          </p:cNvSpPr>
          <p:nvPr/>
        </p:nvSpPr>
        <p:spPr>
          <a:xfrm rot="0">
            <a:off x="3657600" y="2788920"/>
            <a:ext cx="2011679" cy="5486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Check against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KG facts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3" name="圆角矩形"/>
          <p:cNvSpPr>
            <a:spLocks/>
          </p:cNvSpPr>
          <p:nvPr/>
        </p:nvSpPr>
        <p:spPr>
          <a:xfrm rot="0">
            <a:off x="6156356" y="1645920"/>
            <a:ext cx="2439004" cy="1678362"/>
          </a:xfrm>
          <a:prstGeom prst="roundRect">
            <a:avLst>
              <a:gd name="adj" fmla="val 6666"/>
            </a:avLst>
          </a:prstGeom>
          <a:solidFill>
            <a:srgbClr val="E8F1F8"/>
          </a:solidFill>
          <a:ln w="254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134" name="椭圆"/>
          <p:cNvSpPr>
            <a:spLocks/>
          </p:cNvSpPr>
          <p:nvPr/>
        </p:nvSpPr>
        <p:spPr>
          <a:xfrm rot="0">
            <a:off x="7132320" y="1783080"/>
            <a:ext cx="548640" cy="548640"/>
          </a:xfrm>
          <a:prstGeom prst="ellipse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135" name="矩形"/>
          <p:cNvSpPr>
            <a:spLocks/>
          </p:cNvSpPr>
          <p:nvPr/>
        </p:nvSpPr>
        <p:spPr>
          <a:xfrm rot="0">
            <a:off x="7132320" y="1783080"/>
            <a:ext cx="5486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6" name="矩形"/>
          <p:cNvSpPr>
            <a:spLocks/>
          </p:cNvSpPr>
          <p:nvPr/>
        </p:nvSpPr>
        <p:spPr>
          <a:xfrm rot="0">
            <a:off x="6400800" y="2468880"/>
            <a:ext cx="201167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REFINE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7" name="矩形"/>
          <p:cNvSpPr>
            <a:spLocks/>
          </p:cNvSpPr>
          <p:nvPr/>
        </p:nvSpPr>
        <p:spPr>
          <a:xfrm rot="0">
            <a:off x="6400800" y="2788920"/>
            <a:ext cx="2011679" cy="5486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Correct if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contradictions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8" name="矩形"/>
          <p:cNvSpPr>
            <a:spLocks/>
          </p:cNvSpPr>
          <p:nvPr/>
        </p:nvSpPr>
        <p:spPr>
          <a:xfrm rot="0">
            <a:off x="457200" y="3291840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Continuous Feedback Loop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9" name="矩形"/>
          <p:cNvSpPr>
            <a:spLocks/>
          </p:cNvSpPr>
          <p:nvPr/>
        </p:nvSpPr>
        <p:spPr>
          <a:xfrm rot="0">
            <a:off x="-247639" y="3609976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Why This Works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0" name="矩形"/>
          <p:cNvSpPr>
            <a:spLocks/>
          </p:cNvSpPr>
          <p:nvPr/>
        </p:nvSpPr>
        <p:spPr>
          <a:xfrm rot="0">
            <a:off x="731520" y="4023359"/>
            <a:ext cx="7955280" cy="9143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Unlike RAG (which just dumps data):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This creates an actual correction mechanism.
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system doesn't stop after first generation—it actively improves answers until they match verified KG facts.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70660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What is Meta-Knowledge?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4" name="矩形"/>
          <p:cNvSpPr>
            <a:spLocks/>
          </p:cNvSpPr>
          <p:nvPr/>
        </p:nvSpPr>
        <p:spPr>
          <a:xfrm rot="0">
            <a:off x="457200" y="914400"/>
            <a:ext cx="8229600" cy="54862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145" name="矩形"/>
          <p:cNvSpPr>
            <a:spLocks/>
          </p:cNvSpPr>
          <p:nvPr/>
        </p:nvSpPr>
        <p:spPr>
          <a:xfrm rot="0">
            <a:off x="457200" y="1188720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Normal Knowledge vs. Meta-Knowledge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6" name="圆角矩形"/>
          <p:cNvSpPr>
            <a:spLocks/>
          </p:cNvSpPr>
          <p:nvPr/>
        </p:nvSpPr>
        <p:spPr>
          <a:xfrm rot="0">
            <a:off x="457200" y="1600200"/>
            <a:ext cx="3931920" cy="1645920"/>
          </a:xfrm>
          <a:prstGeom prst="roundRect">
            <a:avLst>
              <a:gd name="adj" fmla="val 5555"/>
            </a:avLst>
          </a:prstGeom>
          <a:solidFill>
            <a:srgbClr val="E8F1F8"/>
          </a:solidFill>
          <a:ln w="254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147" name="矩形"/>
          <p:cNvSpPr>
            <a:spLocks/>
          </p:cNvSpPr>
          <p:nvPr/>
        </p:nvSpPr>
        <p:spPr>
          <a:xfrm rot="0">
            <a:off x="640080" y="1737360"/>
            <a:ext cx="356616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Normal Knowledge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8" name="矩形"/>
          <p:cNvSpPr>
            <a:spLocks/>
          </p:cNvSpPr>
          <p:nvPr/>
        </p:nvSpPr>
        <p:spPr>
          <a:xfrm rot="0">
            <a:off x="640080" y="2057400"/>
            <a:ext cx="3566160" cy="10972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Facts and data
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1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Example: "The capital of France is Paris"
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What: Explicit information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9" name="圆角矩形"/>
          <p:cNvSpPr>
            <a:spLocks/>
          </p:cNvSpPr>
          <p:nvPr/>
        </p:nvSpPr>
        <p:spPr>
          <a:xfrm rot="0">
            <a:off x="4754880" y="1600200"/>
            <a:ext cx="3931920" cy="1645920"/>
          </a:xfrm>
          <a:prstGeom prst="roundRect">
            <a:avLst>
              <a:gd name="adj" fmla="val 5555"/>
            </a:avLst>
          </a:prstGeom>
          <a:solidFill>
            <a:srgbClr val="E8F1F8"/>
          </a:solidFill>
          <a:ln w="254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150" name="矩形"/>
          <p:cNvSpPr>
            <a:spLocks/>
          </p:cNvSpPr>
          <p:nvPr/>
        </p:nvSpPr>
        <p:spPr>
          <a:xfrm rot="0">
            <a:off x="4937760" y="1737360"/>
            <a:ext cx="356616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Meta-Knowledge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1" name="矩形"/>
          <p:cNvSpPr>
            <a:spLocks/>
          </p:cNvSpPr>
          <p:nvPr/>
        </p:nvSpPr>
        <p:spPr>
          <a:xfrm rot="0">
            <a:off x="4937760" y="2057400"/>
            <a:ext cx="3566160" cy="10972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Knowledge about HOW to use knowledge
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1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Example: "Verify facts by cross-checking sources"
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How: Learned strategies &amp; evaluation methods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2" name="矩形"/>
          <p:cNvSpPr>
            <a:spLocks/>
          </p:cNvSpPr>
          <p:nvPr/>
        </p:nvSpPr>
        <p:spPr>
          <a:xfrm rot="0">
            <a:off x="457200" y="3429000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 Simple Analogy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3" name="圆角矩形"/>
          <p:cNvSpPr>
            <a:spLocks/>
          </p:cNvSpPr>
          <p:nvPr/>
        </p:nvSpPr>
        <p:spPr>
          <a:xfrm rot="0">
            <a:off x="457200" y="3840480"/>
            <a:ext cx="8229600" cy="1005839"/>
          </a:xfrm>
          <a:prstGeom prst="roundRect">
            <a:avLst>
              <a:gd name="adj" fmla="val 7273"/>
            </a:avLst>
          </a:prstGeom>
          <a:solidFill>
            <a:srgbClr val="E8F1F8"/>
          </a:solidFill>
          <a:ln w="127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154" name="矩形"/>
          <p:cNvSpPr>
            <a:spLocks/>
          </p:cNvSpPr>
          <p:nvPr/>
        </p:nvSpPr>
        <p:spPr>
          <a:xfrm rot="0">
            <a:off x="731520" y="3977640"/>
            <a:ext cx="768096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 student taking an exam:
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Normal Knowledge = Textbook facts
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Meta-Knowledge = Knowing </a:t>
            </a:r>
            <a:r>
              <a:rPr lang="en-US" altLang="zh-CN" sz="11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how to double-check your math</a:t>
            </a: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before submitting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99674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Meta-Knowledge Guided (MKG) Framework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8" name="矩形"/>
          <p:cNvSpPr>
            <a:spLocks/>
          </p:cNvSpPr>
          <p:nvPr/>
        </p:nvSpPr>
        <p:spPr>
          <a:xfrm rot="0">
            <a:off x="438149" y="1028698"/>
            <a:ext cx="8229600" cy="54862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159" name="矩形"/>
          <p:cNvSpPr>
            <a:spLocks/>
          </p:cNvSpPr>
          <p:nvPr/>
        </p:nvSpPr>
        <p:spPr>
          <a:xfrm rot="0">
            <a:off x="457200" y="1188720"/>
            <a:ext cx="822960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Core Innovation: 61% Accuracy on KGQA Benchmarks (25% improvement over baseline)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0" name="矩形"/>
          <p:cNvSpPr>
            <a:spLocks/>
          </p:cNvSpPr>
          <p:nvPr/>
        </p:nvSpPr>
        <p:spPr>
          <a:xfrm rot="0">
            <a:off x="457200" y="1691639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Three Core Components Working Together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1" name="圆角矩形"/>
          <p:cNvSpPr>
            <a:spLocks/>
          </p:cNvSpPr>
          <p:nvPr/>
        </p:nvSpPr>
        <p:spPr>
          <a:xfrm rot="0">
            <a:off x="457200" y="2148840"/>
            <a:ext cx="8229600" cy="868678"/>
          </a:xfrm>
          <a:prstGeom prst="roundRect">
            <a:avLst>
              <a:gd name="adj" fmla="val 8421"/>
            </a:avLst>
          </a:prstGeom>
          <a:solidFill>
            <a:srgbClr val="E8F1F8"/>
          </a:solidFill>
          <a:ln w="127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162" name="椭圆"/>
          <p:cNvSpPr>
            <a:spLocks/>
          </p:cNvSpPr>
          <p:nvPr/>
        </p:nvSpPr>
        <p:spPr>
          <a:xfrm rot="0">
            <a:off x="594360" y="2331720"/>
            <a:ext cx="502918" cy="502919"/>
          </a:xfrm>
          <a:prstGeom prst="ellipse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163" name="矩形"/>
          <p:cNvSpPr>
            <a:spLocks/>
          </p:cNvSpPr>
          <p:nvPr/>
        </p:nvSpPr>
        <p:spPr>
          <a:xfrm rot="0">
            <a:off x="594360" y="2331720"/>
            <a:ext cx="502918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4" name="矩形"/>
          <p:cNvSpPr>
            <a:spLocks/>
          </p:cNvSpPr>
          <p:nvPr/>
        </p:nvSpPr>
        <p:spPr>
          <a:xfrm rot="0">
            <a:off x="1234440" y="2221992"/>
            <a:ext cx="365760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Meta-Executor (Me)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5" name="矩形"/>
          <p:cNvSpPr>
            <a:spLocks/>
          </p:cNvSpPr>
          <p:nvPr/>
        </p:nvSpPr>
        <p:spPr>
          <a:xfrm rot="0">
            <a:off x="1234440" y="2496311"/>
            <a:ext cx="365760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ACTION GENERATOR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6" name="矩形"/>
          <p:cNvSpPr>
            <a:spLocks/>
          </p:cNvSpPr>
          <p:nvPr/>
        </p:nvSpPr>
        <p:spPr>
          <a:xfrm rot="0">
            <a:off x="5029200" y="2286000"/>
            <a:ext cx="3566160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Produces initial responses from retrieved facts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7" name="圆角矩形"/>
          <p:cNvSpPr>
            <a:spLocks/>
          </p:cNvSpPr>
          <p:nvPr/>
        </p:nvSpPr>
        <p:spPr>
          <a:xfrm rot="0">
            <a:off x="457200" y="31089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8F1F8"/>
          </a:solidFill>
          <a:ln w="127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168" name="椭圆"/>
          <p:cNvSpPr>
            <a:spLocks/>
          </p:cNvSpPr>
          <p:nvPr/>
        </p:nvSpPr>
        <p:spPr>
          <a:xfrm rot="0">
            <a:off x="594360" y="3291840"/>
            <a:ext cx="502918" cy="502920"/>
          </a:xfrm>
          <a:prstGeom prst="ellipse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169" name="矩形"/>
          <p:cNvSpPr>
            <a:spLocks/>
          </p:cNvSpPr>
          <p:nvPr/>
        </p:nvSpPr>
        <p:spPr>
          <a:xfrm rot="0">
            <a:off x="594360" y="3291840"/>
            <a:ext cx="502918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0" name="矩形"/>
          <p:cNvSpPr>
            <a:spLocks/>
          </p:cNvSpPr>
          <p:nvPr/>
        </p:nvSpPr>
        <p:spPr>
          <a:xfrm rot="0">
            <a:off x="1234440" y="3182112"/>
            <a:ext cx="365760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Meta-Assessor (Ma)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1" name="矩形"/>
          <p:cNvSpPr>
            <a:spLocks/>
          </p:cNvSpPr>
          <p:nvPr/>
        </p:nvSpPr>
        <p:spPr>
          <a:xfrm rot="0">
            <a:off x="1234440" y="3456431"/>
            <a:ext cx="365760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EVALUATOR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2" name="矩形"/>
          <p:cNvSpPr>
            <a:spLocks/>
          </p:cNvSpPr>
          <p:nvPr/>
        </p:nvSpPr>
        <p:spPr>
          <a:xfrm rot="0">
            <a:off x="5029200" y="3246120"/>
            <a:ext cx="3566160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Grades outputs on hallucination, consistency (1-5 scale)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3" name="圆角矩形"/>
          <p:cNvSpPr>
            <a:spLocks/>
          </p:cNvSpPr>
          <p:nvPr/>
        </p:nvSpPr>
        <p:spPr>
          <a:xfrm rot="0">
            <a:off x="457200" y="4069080"/>
            <a:ext cx="8229600" cy="868679"/>
          </a:xfrm>
          <a:prstGeom prst="roundRect">
            <a:avLst>
              <a:gd name="adj" fmla="val 8421"/>
            </a:avLst>
          </a:prstGeom>
          <a:solidFill>
            <a:srgbClr val="E8F1F8"/>
          </a:solidFill>
          <a:ln w="127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174" name="椭圆"/>
          <p:cNvSpPr>
            <a:spLocks/>
          </p:cNvSpPr>
          <p:nvPr/>
        </p:nvSpPr>
        <p:spPr>
          <a:xfrm rot="0">
            <a:off x="594360" y="4251960"/>
            <a:ext cx="502918" cy="502920"/>
          </a:xfrm>
          <a:prstGeom prst="ellipse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175" name="矩形"/>
          <p:cNvSpPr>
            <a:spLocks/>
          </p:cNvSpPr>
          <p:nvPr/>
        </p:nvSpPr>
        <p:spPr>
          <a:xfrm rot="0">
            <a:off x="594360" y="4251960"/>
            <a:ext cx="502918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Mip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6" name="矩形"/>
          <p:cNvSpPr>
            <a:spLocks/>
          </p:cNvSpPr>
          <p:nvPr/>
        </p:nvSpPr>
        <p:spPr>
          <a:xfrm rot="0">
            <a:off x="1234440" y="4142232"/>
            <a:ext cx="365760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Meta-Insight Processor (Mip)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7" name="矩形"/>
          <p:cNvSpPr>
            <a:spLocks/>
          </p:cNvSpPr>
          <p:nvPr/>
        </p:nvSpPr>
        <p:spPr>
          <a:xfrm rot="0">
            <a:off x="1234440" y="4416552"/>
            <a:ext cx="365760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STRATEGY GUIDE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8" name="矩形"/>
          <p:cNvSpPr>
            <a:spLocks/>
          </p:cNvSpPr>
          <p:nvPr/>
        </p:nvSpPr>
        <p:spPr>
          <a:xfrm rot="0">
            <a:off x="5029200" y="4206240"/>
            <a:ext cx="3566160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Generates corrective feedback and learns patterns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70197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Multi-Source Knowledge Retrieval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2" name="矩形"/>
          <p:cNvSpPr>
            <a:spLocks/>
          </p:cNvSpPr>
          <p:nvPr/>
        </p:nvSpPr>
        <p:spPr>
          <a:xfrm rot="0">
            <a:off x="457200" y="914400"/>
            <a:ext cx="8229600" cy="54862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183" name="矩形"/>
          <p:cNvSpPr>
            <a:spLocks/>
          </p:cNvSpPr>
          <p:nvPr/>
        </p:nvSpPr>
        <p:spPr>
          <a:xfrm rot="0">
            <a:off x="457200" y="1188720"/>
            <a:ext cx="822960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Why Use Three Search Methods Instead of One?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4" name="矩形"/>
          <p:cNvSpPr>
            <a:spLocks/>
          </p:cNvSpPr>
          <p:nvPr/>
        </p:nvSpPr>
        <p:spPr>
          <a:xfrm rot="0">
            <a:off x="731520" y="1645920"/>
            <a:ext cx="7955280" cy="3200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Each method catches different types of relevant information. Together, they provide complete coverage.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5" name="圆角矩形"/>
          <p:cNvSpPr>
            <a:spLocks/>
          </p:cNvSpPr>
          <p:nvPr/>
        </p:nvSpPr>
        <p:spPr>
          <a:xfrm rot="0">
            <a:off x="457200" y="2194560"/>
            <a:ext cx="8229600" cy="822959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186" name="矩形"/>
          <p:cNvSpPr>
            <a:spLocks/>
          </p:cNvSpPr>
          <p:nvPr/>
        </p:nvSpPr>
        <p:spPr>
          <a:xfrm rot="0">
            <a:off x="731520" y="2267712"/>
            <a:ext cx="320040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BGE Semantic Embeddings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7" name="矩形"/>
          <p:cNvSpPr>
            <a:spLocks/>
          </p:cNvSpPr>
          <p:nvPr/>
        </p:nvSpPr>
        <p:spPr>
          <a:xfrm rot="0">
            <a:off x="731520" y="2542032"/>
            <a:ext cx="320040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Looks for conceptual &amp; semantic meaning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 Best for: Abstract or rephrased queries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8" name="矩形"/>
          <p:cNvSpPr>
            <a:spLocks/>
          </p:cNvSpPr>
          <p:nvPr/>
        </p:nvSpPr>
        <p:spPr>
          <a:xfrm rot="0">
            <a:off x="4023359" y="2514600"/>
            <a:ext cx="548638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9" name="矩形"/>
          <p:cNvSpPr>
            <a:spLocks/>
          </p:cNvSpPr>
          <p:nvPr/>
        </p:nvSpPr>
        <p:spPr>
          <a:xfrm rot="0">
            <a:off x="4754880" y="2286000"/>
            <a:ext cx="393192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Reciprocal Rank Fusion (RRF)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0" name="矩形"/>
          <p:cNvSpPr>
            <a:spLocks/>
          </p:cNvSpPr>
          <p:nvPr/>
        </p:nvSpPr>
        <p:spPr>
          <a:xfrm rot="0">
            <a:off x="4754880" y="2542032"/>
            <a:ext cx="393192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Combines results from all three methods using voting mechanism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1" name="圆角矩形"/>
          <p:cNvSpPr>
            <a:spLocks/>
          </p:cNvSpPr>
          <p:nvPr/>
        </p:nvSpPr>
        <p:spPr>
          <a:xfrm rot="0">
            <a:off x="457200" y="3108960"/>
            <a:ext cx="8229600" cy="822959"/>
          </a:xfrm>
          <a:prstGeom prst="roundRect">
            <a:avLst>
              <a:gd name="adj" fmla="val 8888"/>
            </a:avLst>
          </a:prstGeom>
          <a:solidFill>
            <a:srgbClr val="E8F1F8"/>
          </a:solidFill>
          <a:ln w="127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192" name="矩形"/>
          <p:cNvSpPr>
            <a:spLocks/>
          </p:cNvSpPr>
          <p:nvPr/>
        </p:nvSpPr>
        <p:spPr>
          <a:xfrm rot="0">
            <a:off x="731520" y="3182112"/>
            <a:ext cx="320040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ColBERT Late-Interaction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3" name="矩形"/>
          <p:cNvSpPr>
            <a:spLocks/>
          </p:cNvSpPr>
          <p:nvPr/>
        </p:nvSpPr>
        <p:spPr>
          <a:xfrm rot="0">
            <a:off x="731520" y="3456431"/>
            <a:ext cx="3200400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Token-level matching with context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 Best for: Nuanced phrases &amp; precise queries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4" name="矩形"/>
          <p:cNvSpPr>
            <a:spLocks/>
          </p:cNvSpPr>
          <p:nvPr/>
        </p:nvSpPr>
        <p:spPr>
          <a:xfrm rot="0">
            <a:off x="4023359" y="3429000"/>
            <a:ext cx="548638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5" name="矩形"/>
          <p:cNvSpPr>
            <a:spLocks/>
          </p:cNvSpPr>
          <p:nvPr/>
        </p:nvSpPr>
        <p:spPr>
          <a:xfrm rot="0">
            <a:off x="4754880" y="3200400"/>
            <a:ext cx="393192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Reciprocal Rank Fusion (RRF)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6" name="矩形"/>
          <p:cNvSpPr>
            <a:spLocks/>
          </p:cNvSpPr>
          <p:nvPr/>
        </p:nvSpPr>
        <p:spPr>
          <a:xfrm rot="0">
            <a:off x="4754880" y="3456431"/>
            <a:ext cx="393192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Combines results from all three methods using voting mechanism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7" name="圆角矩形"/>
          <p:cNvSpPr>
            <a:spLocks/>
          </p:cNvSpPr>
          <p:nvPr/>
        </p:nvSpPr>
        <p:spPr>
          <a:xfrm rot="0">
            <a:off x="457200" y="4023359"/>
            <a:ext cx="822960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198" name="矩形"/>
          <p:cNvSpPr>
            <a:spLocks/>
          </p:cNvSpPr>
          <p:nvPr/>
        </p:nvSpPr>
        <p:spPr>
          <a:xfrm rot="0">
            <a:off x="731520" y="4096511"/>
            <a:ext cx="320040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BM25 Lexical Retrieval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9" name="矩形"/>
          <p:cNvSpPr>
            <a:spLocks/>
          </p:cNvSpPr>
          <p:nvPr/>
        </p:nvSpPr>
        <p:spPr>
          <a:xfrm rot="0">
            <a:off x="731520" y="4370832"/>
            <a:ext cx="320040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Exact keyword matching (traditional)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 Best for: Names, dates, specific terms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0" name="矩形"/>
          <p:cNvSpPr>
            <a:spLocks/>
          </p:cNvSpPr>
          <p:nvPr/>
        </p:nvSpPr>
        <p:spPr>
          <a:xfrm rot="0">
            <a:off x="4023359" y="4343400"/>
            <a:ext cx="548638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1" name="矩形"/>
          <p:cNvSpPr>
            <a:spLocks/>
          </p:cNvSpPr>
          <p:nvPr/>
        </p:nvSpPr>
        <p:spPr>
          <a:xfrm rot="0">
            <a:off x="4754880" y="4114800"/>
            <a:ext cx="393192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Reciprocal Rank Fusion (RRF)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2" name="矩形"/>
          <p:cNvSpPr>
            <a:spLocks/>
          </p:cNvSpPr>
          <p:nvPr/>
        </p:nvSpPr>
        <p:spPr>
          <a:xfrm rot="0">
            <a:off x="4754880" y="4370832"/>
            <a:ext cx="393192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Combines results from all three methods using voting mechanism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011273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Dual-Memory Architecture in MKG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6" name="矩形"/>
          <p:cNvSpPr>
            <a:spLocks/>
          </p:cNvSpPr>
          <p:nvPr/>
        </p:nvSpPr>
        <p:spPr>
          <a:xfrm rot="0">
            <a:off x="457200" y="914400"/>
            <a:ext cx="8229600" cy="54862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207" name="矩形"/>
          <p:cNvSpPr>
            <a:spLocks/>
          </p:cNvSpPr>
          <p:nvPr/>
        </p:nvSpPr>
        <p:spPr>
          <a:xfrm rot="0">
            <a:off x="457200" y="1188720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Two Types of Memory Working Together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8" name="圆角矩形"/>
          <p:cNvSpPr>
            <a:spLocks/>
          </p:cNvSpPr>
          <p:nvPr/>
        </p:nvSpPr>
        <p:spPr>
          <a:xfrm rot="0">
            <a:off x="457200" y="1645920"/>
            <a:ext cx="3931920" cy="2560320"/>
          </a:xfrm>
          <a:prstGeom prst="roundRect">
            <a:avLst>
              <a:gd name="adj" fmla="val 3569"/>
            </a:avLst>
          </a:prstGeom>
          <a:solidFill>
            <a:srgbClr val="E8F1F8"/>
          </a:solidFill>
          <a:ln w="254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209" name="矩形"/>
          <p:cNvSpPr>
            <a:spLocks/>
          </p:cNvSpPr>
          <p:nvPr/>
        </p:nvSpPr>
        <p:spPr>
          <a:xfrm rot="0">
            <a:off x="731520" y="1783080"/>
            <a:ext cx="338327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Short-Term Memory (STM)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0" name="矩形"/>
          <p:cNvSpPr>
            <a:spLocks/>
          </p:cNvSpPr>
          <p:nvPr/>
        </p:nvSpPr>
        <p:spPr>
          <a:xfrm rot="0">
            <a:off x="731520" y="2148840"/>
            <a:ext cx="3383279" cy="1920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LLM's prompt context window
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Temporary &amp; task-specific
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Contains current conversation trajectory
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Cleared after session ends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1" name="圆角矩形"/>
          <p:cNvSpPr>
            <a:spLocks/>
          </p:cNvSpPr>
          <p:nvPr/>
        </p:nvSpPr>
        <p:spPr>
          <a:xfrm rot="0">
            <a:off x="4754880" y="1645920"/>
            <a:ext cx="3931920" cy="2560320"/>
          </a:xfrm>
          <a:prstGeom prst="roundRect">
            <a:avLst>
              <a:gd name="adj" fmla="val 3569"/>
            </a:avLst>
          </a:prstGeom>
          <a:solidFill>
            <a:srgbClr val="E8F1F8"/>
          </a:solidFill>
          <a:ln w="25400" cmpd="sng" cap="flat">
            <a:solidFill>
              <a:srgbClr val="2E5C8A"/>
            </a:solidFill>
            <a:prstDash val="solid"/>
            <a:round/>
          </a:ln>
        </p:spPr>
      </p:sp>
      <p:sp>
        <p:nvSpPr>
          <p:cNvPr id="212" name="矩形"/>
          <p:cNvSpPr>
            <a:spLocks/>
          </p:cNvSpPr>
          <p:nvPr/>
        </p:nvSpPr>
        <p:spPr>
          <a:xfrm rot="0">
            <a:off x="5029200" y="1783080"/>
            <a:ext cx="338327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Long-Term Memory (LTM)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3" name="矩形"/>
          <p:cNvSpPr>
            <a:spLocks/>
          </p:cNvSpPr>
          <p:nvPr/>
        </p:nvSpPr>
        <p:spPr>
          <a:xfrm rot="0">
            <a:off x="5029200" y="2148840"/>
            <a:ext cx="3383279" cy="1920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Persistent vector database
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Stores meta-knowledge embeddings
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Cross-session learning
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Follows Ebbinghaus Forgetting Curve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4" name="矩形"/>
          <p:cNvSpPr>
            <a:spLocks/>
          </p:cNvSpPr>
          <p:nvPr/>
        </p:nvSpPr>
        <p:spPr>
          <a:xfrm rot="0">
            <a:off x="457200" y="4389120"/>
            <a:ext cx="82296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Memory Types Stored in LTM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5" name="矩形"/>
          <p:cNvSpPr>
            <a:spLocks/>
          </p:cNvSpPr>
          <p:nvPr/>
        </p:nvSpPr>
        <p:spPr>
          <a:xfrm rot="0">
            <a:off x="731520" y="4709160"/>
            <a:ext cx="795528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• Procedural: How to query KGs  • Semantic: Entity/relation understanding  • Episodic: Past task records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108898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Real-World Challenge: Noisy Knowledge Graphs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9" name="矩形"/>
          <p:cNvSpPr>
            <a:spLocks/>
          </p:cNvSpPr>
          <p:nvPr/>
        </p:nvSpPr>
        <p:spPr>
          <a:xfrm rot="0">
            <a:off x="438149" y="1019173"/>
            <a:ext cx="8229600" cy="54862"/>
          </a:xfrm>
          <a:prstGeom prst="rect"/>
          <a:solidFill>
            <a:srgbClr val="FF6B35"/>
          </a:solidFill>
          <a:ln w="12700" cmpd="sng" cap="flat">
            <a:noFill/>
            <a:prstDash val="solid"/>
            <a:miter/>
          </a:ln>
        </p:spPr>
      </p:sp>
      <p:sp>
        <p:nvSpPr>
          <p:cNvPr id="220" name="矩形"/>
          <p:cNvSpPr>
            <a:spLocks/>
          </p:cNvSpPr>
          <p:nvPr/>
        </p:nvSpPr>
        <p:spPr>
          <a:xfrm rot="0">
            <a:off x="457200" y="1143000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Critical Issue Most Systems Ignore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1" name="圆角矩形"/>
          <p:cNvSpPr>
            <a:spLocks/>
          </p:cNvSpPr>
          <p:nvPr/>
        </p:nvSpPr>
        <p:spPr>
          <a:xfrm rot="0">
            <a:off x="457200" y="1440181"/>
            <a:ext cx="8229600" cy="1123944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 w="25400" cmpd="sng" cap="flat">
            <a:solidFill>
              <a:srgbClr val="FF6B35"/>
            </a:solidFill>
            <a:prstDash val="solid"/>
            <a:round/>
          </a:ln>
        </p:spPr>
      </p:sp>
      <p:sp>
        <p:nvSpPr>
          <p:cNvPr id="222" name="矩形"/>
          <p:cNvSpPr>
            <a:spLocks/>
          </p:cNvSpPr>
          <p:nvPr/>
        </p:nvSpPr>
        <p:spPr>
          <a:xfrm rot="0">
            <a:off x="731520" y="1645920"/>
            <a:ext cx="768096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6B3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Real-world Knowledge Graphs contain: 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1A1A1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~5-15% inaccurate data • Duplicates • Outdated facts • Contradictions
</a:t>
            </a:r>
            <a:endParaRPr lang="en-US" altLang="zh-CN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1A1A1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Blindly trusting external KG data is as problematic as blindly trusting LLM weights.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3" name="矩形"/>
          <p:cNvSpPr>
            <a:spLocks/>
          </p:cNvSpPr>
          <p:nvPr/>
        </p:nvSpPr>
        <p:spPr>
          <a:xfrm rot="0">
            <a:off x="457200" y="2651760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How the Solution Addresses This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4" name="矩形"/>
          <p:cNvSpPr>
            <a:spLocks/>
          </p:cNvSpPr>
          <p:nvPr/>
        </p:nvSpPr>
        <p:spPr>
          <a:xfrm rot="0">
            <a:off x="457200" y="3017519"/>
            <a:ext cx="73151" cy="640079"/>
          </a:xfrm>
          <a:prstGeom prst="rect"/>
          <a:solidFill>
            <a:srgbClr val="FF6B35"/>
          </a:solidFill>
          <a:ln w="12700" cmpd="sng" cap="flat">
            <a:noFill/>
            <a:prstDash val="solid"/>
            <a:miter/>
          </a:ln>
        </p:spPr>
      </p:sp>
      <p:sp>
        <p:nvSpPr>
          <p:cNvPr id="225" name="矩形"/>
          <p:cNvSpPr>
            <a:spLocks/>
          </p:cNvSpPr>
          <p:nvPr/>
        </p:nvSpPr>
        <p:spPr>
          <a:xfrm rot="0">
            <a:off x="731520" y="3017519"/>
            <a:ext cx="34747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1A1A1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 Errors (5-15% inaccuracy)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6" name="矩形"/>
          <p:cNvSpPr>
            <a:spLocks/>
          </p:cNvSpPr>
          <p:nvPr/>
        </p:nvSpPr>
        <p:spPr>
          <a:xfrm rot="0">
            <a:off x="4389120" y="3108960"/>
            <a:ext cx="4572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7" name="圆角矩形"/>
          <p:cNvSpPr>
            <a:spLocks/>
          </p:cNvSpPr>
          <p:nvPr/>
        </p:nvSpPr>
        <p:spPr>
          <a:xfrm rot="0">
            <a:off x="5029200" y="3017519"/>
            <a:ext cx="3566160" cy="640079"/>
          </a:xfrm>
          <a:prstGeom prst="roundRect">
            <a:avLst>
              <a:gd name="adj" fmla="val 11430"/>
            </a:avLst>
          </a:prstGeom>
          <a:solidFill>
            <a:srgbClr val="E8F1F8"/>
          </a:solidFill>
          <a:ln w="12700" cmpd="sng" cap="flat">
            <a:noFill/>
            <a:prstDash val="solid"/>
            <a:miter/>
          </a:ln>
        </p:spPr>
      </p:sp>
      <p:sp>
        <p:nvSpPr>
          <p:cNvPr id="228" name="矩形"/>
          <p:cNvSpPr>
            <a:spLocks/>
          </p:cNvSpPr>
          <p:nvPr/>
        </p:nvSpPr>
        <p:spPr>
          <a:xfrm rot="0">
            <a:off x="5212080" y="3154680"/>
            <a:ext cx="32004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Bayesian Trust Scoring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9" name="矩形"/>
          <p:cNvSpPr>
            <a:spLocks/>
          </p:cNvSpPr>
          <p:nvPr/>
        </p:nvSpPr>
        <p:spPr>
          <a:xfrm rot="0">
            <a:off x="457200" y="3794760"/>
            <a:ext cx="73151" cy="640079"/>
          </a:xfrm>
          <a:prstGeom prst="rect"/>
          <a:solidFill>
            <a:srgbClr val="FF6B35"/>
          </a:solidFill>
          <a:ln w="12700" cmpd="sng" cap="flat">
            <a:noFill/>
            <a:prstDash val="solid"/>
            <a:miter/>
          </a:ln>
        </p:spPr>
      </p:sp>
      <p:sp>
        <p:nvSpPr>
          <p:cNvPr id="230" name="矩形"/>
          <p:cNvSpPr>
            <a:spLocks/>
          </p:cNvSpPr>
          <p:nvPr/>
        </p:nvSpPr>
        <p:spPr>
          <a:xfrm rot="0">
            <a:off x="731520" y="3794760"/>
            <a:ext cx="34747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1A1A1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Stale Facts (outdated information)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1" name="矩形"/>
          <p:cNvSpPr>
            <a:spLocks/>
          </p:cNvSpPr>
          <p:nvPr/>
        </p:nvSpPr>
        <p:spPr>
          <a:xfrm rot="0">
            <a:off x="4389120" y="3886200"/>
            <a:ext cx="4572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2" name="圆角矩形"/>
          <p:cNvSpPr>
            <a:spLocks/>
          </p:cNvSpPr>
          <p:nvPr/>
        </p:nvSpPr>
        <p:spPr>
          <a:xfrm rot="0">
            <a:off x="5029200" y="3794760"/>
            <a:ext cx="3566160" cy="640079"/>
          </a:xfrm>
          <a:prstGeom prst="roundRect">
            <a:avLst>
              <a:gd name="adj" fmla="val 11430"/>
            </a:avLst>
          </a:prstGeom>
          <a:solidFill>
            <a:srgbClr val="E8F1F8"/>
          </a:solidFill>
          <a:ln w="12700" cmpd="sng" cap="flat">
            <a:noFill/>
            <a:prstDash val="solid"/>
            <a:miter/>
          </a:ln>
        </p:spPr>
      </p:sp>
      <p:sp>
        <p:nvSpPr>
          <p:cNvPr id="233" name="矩形"/>
          <p:cNvSpPr>
            <a:spLocks/>
          </p:cNvSpPr>
          <p:nvPr/>
        </p:nvSpPr>
        <p:spPr>
          <a:xfrm rot="0">
            <a:off x="5212080" y="3931920"/>
            <a:ext cx="320040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Temporal Validity Stamps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4" name="矩形"/>
          <p:cNvSpPr>
            <a:spLocks/>
          </p:cNvSpPr>
          <p:nvPr/>
        </p:nvSpPr>
        <p:spPr>
          <a:xfrm rot="0">
            <a:off x="457200" y="4572000"/>
            <a:ext cx="73151" cy="640080"/>
          </a:xfrm>
          <a:prstGeom prst="rect"/>
          <a:solidFill>
            <a:srgbClr val="FF6B35"/>
          </a:solidFill>
          <a:ln w="12700" cmpd="sng" cap="flat">
            <a:noFill/>
            <a:prstDash val="solid"/>
            <a:miter/>
          </a:ln>
        </p:spPr>
      </p:sp>
      <p:sp>
        <p:nvSpPr>
          <p:cNvPr id="235" name="矩形"/>
          <p:cNvSpPr>
            <a:spLocks/>
          </p:cNvSpPr>
          <p:nvPr/>
        </p:nvSpPr>
        <p:spPr>
          <a:xfrm rot="0">
            <a:off x="731520" y="4572000"/>
            <a:ext cx="34747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1A1A1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Contradictions (conflicting sources)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6" name="矩形"/>
          <p:cNvSpPr>
            <a:spLocks/>
          </p:cNvSpPr>
          <p:nvPr/>
        </p:nvSpPr>
        <p:spPr>
          <a:xfrm rot="0">
            <a:off x="4389120" y="4663440"/>
            <a:ext cx="4572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7" name="圆角矩形"/>
          <p:cNvSpPr>
            <a:spLocks/>
          </p:cNvSpPr>
          <p:nvPr/>
        </p:nvSpPr>
        <p:spPr>
          <a:xfrm rot="0">
            <a:off x="5029200" y="4572000"/>
            <a:ext cx="3566160" cy="640080"/>
          </a:xfrm>
          <a:prstGeom prst="roundRect">
            <a:avLst>
              <a:gd name="adj" fmla="val 11430"/>
            </a:avLst>
          </a:prstGeom>
          <a:solidFill>
            <a:srgbClr val="E8F1F8"/>
          </a:solidFill>
          <a:ln w="12700" cmpd="sng" cap="flat">
            <a:noFill/>
            <a:prstDash val="solid"/>
            <a:miter/>
          </a:ln>
        </p:spPr>
      </p:sp>
      <p:sp>
        <p:nvSpPr>
          <p:cNvPr id="238" name="矩形"/>
          <p:cNvSpPr>
            <a:spLocks/>
          </p:cNvSpPr>
          <p:nvPr/>
        </p:nvSpPr>
        <p:spPr>
          <a:xfrm rot="0">
            <a:off x="5212080" y="4709160"/>
            <a:ext cx="320040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Consensus &amp; Voting Mechanisms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9" name="矩形"/>
          <p:cNvSpPr>
            <a:spLocks/>
          </p:cNvSpPr>
          <p:nvPr/>
        </p:nvSpPr>
        <p:spPr>
          <a:xfrm rot="0">
            <a:off x="457200" y="4846320"/>
            <a:ext cx="82296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1" u="none" strike="noStrike" kern="1200" cap="none" spc="0" baseline="0">
                <a:solidFill>
                  <a:srgbClr val="2E5C8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Result: RQ4 (Conflict Resolution) achieves 94% accuracy on multi-hop reasoning tasks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331291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MKG Framework: Performance Results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3" name="矩形"/>
          <p:cNvSpPr>
            <a:spLocks/>
          </p:cNvSpPr>
          <p:nvPr/>
        </p:nvSpPr>
        <p:spPr>
          <a:xfrm rot="0">
            <a:off x="381001" y="1066797"/>
            <a:ext cx="8229600" cy="54862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244" name="矩形"/>
          <p:cNvSpPr>
            <a:spLocks/>
          </p:cNvSpPr>
          <p:nvPr/>
        </p:nvSpPr>
        <p:spPr>
          <a:xfrm rot="0">
            <a:off x="457200" y="1188720"/>
            <a:ext cx="82296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KGQA Benchmark (GrailQa Dataset) Comparison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245" name="图表"/>
          <p:cNvGraphicFramePr/>
          <p:nvPr/>
        </p:nvGraphicFramePr>
        <p:xfrm>
          <a:off x="457200" y="1645920"/>
          <a:ext cx="8229600" cy="256032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6" name="圆角矩形"/>
          <p:cNvSpPr>
            <a:spLocks/>
          </p:cNvSpPr>
          <p:nvPr/>
        </p:nvSpPr>
        <p:spPr>
          <a:xfrm rot="0">
            <a:off x="457200" y="4434840"/>
            <a:ext cx="8229600" cy="640078"/>
          </a:xfrm>
          <a:prstGeom prst="roundRect">
            <a:avLst>
              <a:gd name="adj" fmla="val 11430"/>
            </a:avLst>
          </a:prstGeom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247" name="矩形"/>
          <p:cNvSpPr>
            <a:spLocks/>
          </p:cNvSpPr>
          <p:nvPr/>
        </p:nvSpPr>
        <p:spPr>
          <a:xfrm rot="0">
            <a:off x="731520" y="4526280"/>
            <a:ext cx="768096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Key Improvements: 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+30% vs Baseline LLM  |  +17% vs RAG  |  +5.4% vs other state-of-the-art methods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029756"/>
      </p:ext>
    </p:extLst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矩形"/>
          <p:cNvSpPr>
            <a:spLocks/>
          </p:cNvSpPr>
          <p:nvPr/>
        </p:nvSpPr>
        <p:spPr>
          <a:xfrm rot="0">
            <a:off x="457200" y="27432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1F47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Key Learning Points from This Study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1" name="矩形"/>
          <p:cNvSpPr>
            <a:spLocks/>
          </p:cNvSpPr>
          <p:nvPr/>
        </p:nvSpPr>
        <p:spPr>
          <a:xfrm rot="0">
            <a:off x="457200" y="914400"/>
            <a:ext cx="8229600" cy="54862"/>
          </a:xfrm>
          <a:prstGeom prst="rect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252" name="椭圆"/>
          <p:cNvSpPr>
            <a:spLocks/>
          </p:cNvSpPr>
          <p:nvPr/>
        </p:nvSpPr>
        <p:spPr>
          <a:xfrm rot="0">
            <a:off x="640080" y="1234440"/>
            <a:ext cx="228600" cy="228600"/>
          </a:xfrm>
          <a:prstGeom prst="ellipse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253" name="矩形"/>
          <p:cNvSpPr>
            <a:spLocks/>
          </p:cNvSpPr>
          <p:nvPr/>
        </p:nvSpPr>
        <p:spPr>
          <a:xfrm rot="0">
            <a:off x="640080" y="1234440"/>
            <a:ext cx="2286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4" name="矩形"/>
          <p:cNvSpPr>
            <a:spLocks/>
          </p:cNvSpPr>
          <p:nvPr/>
        </p:nvSpPr>
        <p:spPr>
          <a:xfrm rot="0">
            <a:off x="1005839" y="1188720"/>
            <a:ext cx="768096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Hallucinations are ARCHITECTURAL problems, not inherent flaws in LLMs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5" name="椭圆"/>
          <p:cNvSpPr>
            <a:spLocks/>
          </p:cNvSpPr>
          <p:nvPr/>
        </p:nvSpPr>
        <p:spPr>
          <a:xfrm rot="0">
            <a:off x="640080" y="1673352"/>
            <a:ext cx="228600" cy="228600"/>
          </a:xfrm>
          <a:prstGeom prst="ellipse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256" name="矩形"/>
          <p:cNvSpPr>
            <a:spLocks/>
          </p:cNvSpPr>
          <p:nvPr/>
        </p:nvSpPr>
        <p:spPr>
          <a:xfrm rot="0">
            <a:off x="640080" y="1673352"/>
            <a:ext cx="2286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7" name="矩形"/>
          <p:cNvSpPr>
            <a:spLocks/>
          </p:cNvSpPr>
          <p:nvPr/>
        </p:nvSpPr>
        <p:spPr>
          <a:xfrm rot="0">
            <a:off x="1005839" y="1627632"/>
            <a:ext cx="7680960" cy="3200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Knowledge Graphs provide factual anchoring that neural weights alone cannot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8" name="椭圆"/>
          <p:cNvSpPr>
            <a:spLocks/>
          </p:cNvSpPr>
          <p:nvPr/>
        </p:nvSpPr>
        <p:spPr>
          <a:xfrm rot="0">
            <a:off x="640080" y="2112264"/>
            <a:ext cx="228600" cy="228600"/>
          </a:xfrm>
          <a:prstGeom prst="ellipse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259" name="矩形"/>
          <p:cNvSpPr>
            <a:spLocks/>
          </p:cNvSpPr>
          <p:nvPr/>
        </p:nvSpPr>
        <p:spPr>
          <a:xfrm rot="0">
            <a:off x="640080" y="2112264"/>
            <a:ext cx="2286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0" name="矩形"/>
          <p:cNvSpPr>
            <a:spLocks/>
          </p:cNvSpPr>
          <p:nvPr/>
        </p:nvSpPr>
        <p:spPr>
          <a:xfrm rot="0">
            <a:off x="1005839" y="2066544"/>
            <a:ext cx="7680960" cy="3200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Multiple retrieval methods together catch edge cases that single methods miss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1" name="椭圆"/>
          <p:cNvSpPr>
            <a:spLocks/>
          </p:cNvSpPr>
          <p:nvPr/>
        </p:nvSpPr>
        <p:spPr>
          <a:xfrm rot="0">
            <a:off x="640080" y="2551176"/>
            <a:ext cx="228600" cy="228600"/>
          </a:xfrm>
          <a:prstGeom prst="ellipse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262" name="矩形"/>
          <p:cNvSpPr>
            <a:spLocks/>
          </p:cNvSpPr>
          <p:nvPr/>
        </p:nvSpPr>
        <p:spPr>
          <a:xfrm rot="0">
            <a:off x="640080" y="2551176"/>
            <a:ext cx="2286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3" name="矩形"/>
          <p:cNvSpPr>
            <a:spLocks/>
          </p:cNvSpPr>
          <p:nvPr/>
        </p:nvSpPr>
        <p:spPr>
          <a:xfrm rot="0">
            <a:off x="1005839" y="2505456"/>
            <a:ext cx="768096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Meta-learning—teaching an AI 'how to check its work'—is as important as raw facts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4" name="椭圆"/>
          <p:cNvSpPr>
            <a:spLocks/>
          </p:cNvSpPr>
          <p:nvPr/>
        </p:nvSpPr>
        <p:spPr>
          <a:xfrm rot="0">
            <a:off x="640080" y="2990088"/>
            <a:ext cx="228600" cy="228600"/>
          </a:xfrm>
          <a:prstGeom prst="ellipse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265" name="矩形"/>
          <p:cNvSpPr>
            <a:spLocks/>
          </p:cNvSpPr>
          <p:nvPr/>
        </p:nvSpPr>
        <p:spPr>
          <a:xfrm rot="0">
            <a:off x="640080" y="2990088"/>
            <a:ext cx="2286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6" name="矩形"/>
          <p:cNvSpPr>
            <a:spLocks/>
          </p:cNvSpPr>
          <p:nvPr/>
        </p:nvSpPr>
        <p:spPr>
          <a:xfrm rot="0">
            <a:off x="1005839" y="2944367"/>
            <a:ext cx="768096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Memory systems enable transfer learning; successful strategies reuse across tasks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7" name="椭圆"/>
          <p:cNvSpPr>
            <a:spLocks/>
          </p:cNvSpPr>
          <p:nvPr/>
        </p:nvSpPr>
        <p:spPr>
          <a:xfrm rot="0">
            <a:off x="640080" y="3429000"/>
            <a:ext cx="228600" cy="228600"/>
          </a:xfrm>
          <a:prstGeom prst="ellipse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268" name="矩形"/>
          <p:cNvSpPr>
            <a:spLocks/>
          </p:cNvSpPr>
          <p:nvPr/>
        </p:nvSpPr>
        <p:spPr>
          <a:xfrm rot="0">
            <a:off x="640080" y="3429000"/>
            <a:ext cx="2286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9" name="矩形"/>
          <p:cNvSpPr>
            <a:spLocks/>
          </p:cNvSpPr>
          <p:nvPr/>
        </p:nvSpPr>
        <p:spPr>
          <a:xfrm rot="0">
            <a:off x="1005839" y="3383279"/>
            <a:ext cx="768096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Smart gating reduces latency while maintaining accuracy through uncertainty-based triggers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0" name="椭圆"/>
          <p:cNvSpPr>
            <a:spLocks/>
          </p:cNvSpPr>
          <p:nvPr/>
        </p:nvSpPr>
        <p:spPr>
          <a:xfrm rot="0">
            <a:off x="640080" y="3867912"/>
            <a:ext cx="228600" cy="228600"/>
          </a:xfrm>
          <a:prstGeom prst="ellipse"/>
          <a:solidFill>
            <a:srgbClr val="2E5C8A"/>
          </a:solidFill>
          <a:ln w="12700" cmpd="sng" cap="flat">
            <a:noFill/>
            <a:prstDash val="solid"/>
            <a:miter/>
          </a:ln>
        </p:spPr>
      </p:sp>
      <p:sp>
        <p:nvSpPr>
          <p:cNvPr id="271" name="矩形"/>
          <p:cNvSpPr>
            <a:spLocks/>
          </p:cNvSpPr>
          <p:nvPr/>
        </p:nvSpPr>
        <p:spPr>
          <a:xfrm rot="0">
            <a:off x="640080" y="3867912"/>
            <a:ext cx="2286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✓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2" name="矩形"/>
          <p:cNvSpPr>
            <a:spLocks/>
          </p:cNvSpPr>
          <p:nvPr/>
        </p:nvSpPr>
        <p:spPr>
          <a:xfrm rot="0">
            <a:off x="1005839" y="3822192"/>
            <a:ext cx="768096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4A4A4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Real-world noisy data requires Bayesian trust scoring, not blind trust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598025"/>
      </p:ext>
    </p:extLst>
  </p:cSld>
  <p:clrMapOvr>
    <a:masterClrMapping/>
  </p:clrMapOvr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文本框"/>
          <p:cNvSpPr>
            <a:spLocks noGrp="1"/>
          </p:cNvSpPr>
          <p:nvPr>
            <p:ph type="title"/>
          </p:nvPr>
        </p:nvSpPr>
        <p:spPr>
          <a:xfrm rot="0">
            <a:off x="457193" y="205196"/>
            <a:ext cx="8233074" cy="858587"/>
          </a:xfrm>
          <a:prstGeom prst="rect"/>
          <a:solidFill>
            <a:srgbClr val="7AE0F6"/>
          </a:solidFill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 Light" pitchFamily="0" charset="0"/>
                <a:ea typeface="等线 Light" pitchFamily="0" charset="0"/>
                <a:cs typeface="Lucida Sans"/>
              </a:rPr>
              <a:t>Proposed Modifications &amp; Enhancements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 Light" pitchFamily="0" charset="0"/>
              <a:ea typeface="等线 Light" pitchFamily="0" charset="0"/>
              <a:cs typeface="Lucida Sans"/>
            </a:endParaRPr>
          </a:p>
        </p:txBody>
      </p:sp>
      <p:sp>
        <p:nvSpPr>
          <p:cNvPr id="276" name="文本框"/>
          <p:cNvSpPr>
            <a:spLocks noGrp="1"/>
          </p:cNvSpPr>
          <p:nvPr>
            <p:ph type="body" idx="1"/>
          </p:nvPr>
        </p:nvSpPr>
        <p:spPr>
          <a:xfrm rot="0">
            <a:off x="609590" y="1182431"/>
            <a:ext cx="8233074" cy="3396548"/>
          </a:xfrm>
          <a:prstGeom prst="rect"/>
          <a:solidFill>
            <a:srgbClr val="7AE0F6"/>
          </a:solidFill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Domain-Specific Adapters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Train classifiers for medical/legal/finance domains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Temporal Knowledge Decay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Time-stamp facts; expire outdated information automatically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Explainability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Audit Trail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Log all corrections for compliance in high-stakes domains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Multi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-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Moda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l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KG Integration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Extend beyond text to images for medical reasoning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Real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-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Time KG Updates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Lucida Sans"/>
              </a:rPr>
              <a:t>Streaming pipeline with staged trust zones for fresh data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351094546"/>
      </p:ext>
    </p:extLst>
  </p:cSld>
  <p:clrMapOvr>
    <a:masterClrMapping/>
  </p:clrMapOvr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矩形"/>
          <p:cNvSpPr>
            <a:spLocks/>
          </p:cNvSpPr>
          <p:nvPr/>
        </p:nvSpPr>
        <p:spPr>
          <a:xfrm rot="0">
            <a:off x="457200" y="1828800"/>
            <a:ext cx="8229600" cy="10972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</a:t>
            </a:r>
            <a:r>
              <a:rPr lang="en-US" altLang="zh-CN" sz="4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ank You</a:t>
            </a:r>
            <a:endParaRPr lang="zh-CN" altLang="en-US" sz="4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0" name="矩形"/>
          <p:cNvSpPr>
            <a:spLocks/>
          </p:cNvSpPr>
          <p:nvPr/>
        </p:nvSpPr>
        <p:spPr>
          <a:xfrm rot="0">
            <a:off x="304802" y="2950845"/>
            <a:ext cx="822960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1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Building Provably Reliable AI Systems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051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18</TotalTime>
  <Application>Yozo_Office</Applicat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Reducing LLM Hallucinations</dc:title>
  <dc:subject>PptxGenJS Presentation</dc:subject>
  <dc:creator>Academic Research</dc:creator>
  <cp:lastModifiedBy>root</cp:lastModifiedBy>
  <cp:revision>1</cp:revision>
  <dcterms:created xsi:type="dcterms:W3CDTF">2026-06-10T23:51:08Z</dcterms:created>
  <dcterms:modified xsi:type="dcterms:W3CDTF">2026-06-11T02:17:04Z</dcterms:modified>
</cp:coreProperties>
</file>