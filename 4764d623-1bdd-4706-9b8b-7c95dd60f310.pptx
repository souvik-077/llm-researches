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>
        <p:scale>
          <a:sx n="103" d="100"/>
          <a:sy n="103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WebQSP (F1 %)</c:v>
                </c:pt>
              </c:strCache>
            </c:strRef>
          </c:tx>
          <c:spPr>
            <a:solidFill>
              <a:srgbClr val="A6C4DE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262626"/>
                    </a:solidFill>
                    <a:latin typeface="Arial"/>
                    <a:ea typeface="Droid Sans"/>
                    <a:cs typeface="Lucida Sans"/>
                  </a:defRPr>
                </a:pPr>
                <a:endParaRPr lang="zh-CN"/>
              </a:p>
            </c:txPr>
            <c:numFmt formatCode="#,##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'Sheet1'!$A$2:$A$5</c:f>
              <c:strCache>
                <c:ptCount val="4"/>
                <c:pt idx="0">
                  <c:v>Standard LLM</c:v>
                </c:pt>
                <c:pt idx="1">
                  <c:v>Prompt+KG</c:v>
                </c:pt>
                <c:pt idx="2">
                  <c:v>RAG Method</c:v>
                </c:pt>
                <c:pt idx="3">
                  <c:v>KG-Adapter</c:v>
                </c:pt>
              </c:strCache>
            </c:strRef>
          </c:cat>
          <c:val>
            <c:numRef>
              <c:f>'Sheet1'!$B$2:$B$5</c:f>
              <c:numCache>
                <c:formatCode>#,##0</c:formatCode>
                <c:ptCount val="4"/>
                <c:pt idx="0">
                  <c:v>52.0</c:v>
                </c:pt>
                <c:pt idx="1">
                  <c:v>65.0</c:v>
                </c:pt>
                <c:pt idx="2">
                  <c:v>68.0</c:v>
                </c:pt>
                <c:pt idx="3">
                  <c:v>76.0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CWQ (F1 %)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262626"/>
                    </a:solidFill>
                    <a:latin typeface="Arial"/>
                    <a:ea typeface="Droid Sans"/>
                    <a:cs typeface="Lucida Sans"/>
                  </a:defRPr>
                </a:pPr>
                <a:endParaRPr lang="zh-CN"/>
              </a:p>
            </c:txPr>
            <c:numFmt formatCode="#,##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'Sheet1'!$A$2:$A$5</c:f>
              <c:strCache>
                <c:ptCount val="4"/>
                <c:pt idx="0">
                  <c:v>Standard LLM</c:v>
                </c:pt>
                <c:pt idx="1">
                  <c:v>Prompt+KG</c:v>
                </c:pt>
                <c:pt idx="2">
                  <c:v>RAG Method</c:v>
                </c:pt>
                <c:pt idx="3">
                  <c:v>KG-Adapter</c:v>
                </c:pt>
              </c:strCache>
            </c:strRef>
          </c:cat>
          <c:val>
            <c:numRef>
              <c:f>'Sheet1'!$C$2:$C$5</c:f>
              <c:numCache>
                <c:formatCode>#,##0</c:formatCode>
                <c:ptCount val="4"/>
                <c:pt idx="0">
                  <c:v>38.0</c:v>
                </c:pt>
                <c:pt idx="1">
                  <c:v>51.0</c:v>
                </c:pt>
                <c:pt idx="2">
                  <c:v>55.0</c:v>
                </c:pt>
                <c:pt idx="3">
                  <c:v>64.0</c:v>
                </c:pt>
              </c:numCache>
            </c:numRef>
          </c:val>
        </c:ser>
        <c:gapWidth val="150"/>
        <c:axId val="0"/>
        <c:axId val="1"/>
      </c:barChart>
      <c:catAx>
        <c:axId val="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100" b="0" i="0" u="none" strike="noStrike" baseline="0">
                <a:solidFill>
                  <a:srgbClr val="595959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auto val="1"/>
        <c:lblOffset val="100"/>
        <c:lblAlgn val="ctr"/>
        <c:noMultiLvlLbl val="0"/>
        <c:crossAx val="1"/>
      </c:catAx>
      <c:valAx>
        <c:axId val="1"/>
        <c:scaling>
          <c:orientation val="minMax"/>
          <c:max val="100.0"/>
        </c:scaling>
        <c:delete val="0"/>
        <c:axPos val="l"/>
        <c:majorGridlines>
          <c:spPr>
            <a:ln w="3175">
              <a:solidFill>
                <a:srgbClr val="E0E0E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595959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crossBetween val="between"/>
        <c:crossAx val="0"/>
      </c:valAx>
      <c:spPr>
        <a:noFill/>
        <a:ln>
          <a:noFill/>
        </a:ln>
      </c:spPr>
    </c:plotArea>
    <c:legend>
      <c:legendPos val="b"/>
      <c:layout/>
      <c:overlay val="0"/>
      <c:spPr>
        <a:noFill/>
        <a:ln>
          <a:noFill/>
        </a:ln>
      </c:spPr>
      <c:txPr>
        <a:bodyPr/>
        <a:lstStyle/>
        <a:p>
          <a:pPr>
            <a:defRPr sz="1100" b="0" i="0" u="none" strike="noStrike" baseline="0">
              <a:solidFill>
                <a:srgbClr val="595959"/>
              </a:solidFill>
              <a:latin typeface="Droid Sans"/>
              <a:ea typeface="Droid Sans"/>
              <a:cs typeface="Lucida Sans"/>
            </a:defRPr>
          </a:pPr>
          <a:endParaRPr lang="zh-CN"/>
        </a:p>
      </c:txPr>
    </c:legend>
    <c:plotVisOnly val="1"/>
    <c:dispBlanksAs val="span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Droid Sans"/>
          <a:ea typeface="Droid Sans"/>
          <a:cs typeface="Lucida Sans"/>
        </a:defRPr>
      </a:pPr>
      <a:endParaRPr lang="zh-CN"/>
    </a:p>
  </c:txPr>
  <c:printSettings>
    <c:headerFooter/>
    <c:pageMargins b="0.75" l="0.7" r="0.7" t="0.75" header="0.3" footer="0.3"/>
    <c:pageSetup/>
  </c:printSettings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255686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87966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741760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5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6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09469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593400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69287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3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4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403760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6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17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43059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6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7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8735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1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52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322233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246447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277264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95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96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541072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0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210280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6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17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4231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3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34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232791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2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53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16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903472"/>
      </p:ext>
    </p:extLst>
  </p:cSld>
  <p:clrMapOvr>
    <a:masterClrMapping/>
  </p:clrMapOvr>
</p:notes>
</file>

<file path=ppt/notesSlides/notesSlide1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6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67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17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12193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8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8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18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64003"/>
      </p:ext>
    </p:extLst>
  </p:cSld>
  <p:clrMapOvr>
    <a:masterClrMapping/>
  </p:clrMapOvr>
</p:notes>
</file>

<file path=ppt/notesSlides/notesSlide1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9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0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19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677821"/>
      </p:ext>
    </p:extLst>
  </p:cSld>
  <p:clrMapOvr>
    <a:masterClrMapping/>
  </p:clrMapOvr>
</p:notes>
</file>

<file path=ppt/notesSlides/notesSlide2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6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07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20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11936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624726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64295983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993083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984822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567156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156244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35820228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06221971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61978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11922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918763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82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 rot="0">
            <a:off x="548640" y="640080"/>
            <a:ext cx="8046719" cy="32004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" name="矩形"/>
          <p:cNvSpPr>
            <a:spLocks/>
          </p:cNvSpPr>
          <p:nvPr/>
        </p:nvSpPr>
        <p:spPr>
          <a:xfrm rot="0">
            <a:off x="865163" y="821200"/>
            <a:ext cx="7315200" cy="1033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KG-Adapter: Enabling K G Integration in LLM through Parameter-Efficient Fine-Tuning (PEFT)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直线"/>
          <p:cNvSpPr>
            <a:spLocks/>
          </p:cNvSpPr>
          <p:nvPr/>
        </p:nvSpPr>
        <p:spPr>
          <a:xfrm rot="0">
            <a:off x="2954215" y="2022231"/>
            <a:ext cx="2743200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5" name="矩形"/>
          <p:cNvSpPr>
            <a:spLocks/>
          </p:cNvSpPr>
          <p:nvPr/>
        </p:nvSpPr>
        <p:spPr>
          <a:xfrm rot="0">
            <a:off x="710417" y="2233246"/>
            <a:ext cx="7315200" cy="1463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Presented By: 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[</a:t>
            </a: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Vicky Rana(120002253004)</a:t>
            </a:r>
            <a:endParaRPr lang="en-US" altLang="zh-CN" sz="1400" b="0" i="0" u="none" strike="noStrike" kern="1200" cap="none" spc="0" baseline="0">
              <a:solidFill>
                <a:srgbClr val="26262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 Souvik Pal (120002244055) ]</a:t>
            </a:r>
            <a:endParaRPr lang="en-US" altLang="zh-CN" sz="1400" b="0" i="0" u="none" strike="noStrike" kern="1200" cap="none" spc="0" baseline="0">
              <a:solidFill>
                <a:srgbClr val="26262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Department of Computer Science &amp; Engineering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[College Name]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Guide: [Prof. Name]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" name="矩形"/>
          <p:cNvSpPr>
            <a:spLocks/>
          </p:cNvSpPr>
          <p:nvPr/>
        </p:nvSpPr>
        <p:spPr>
          <a:xfrm rot="0">
            <a:off x="548640" y="4800600"/>
            <a:ext cx="8046719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14123895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548640" y="1051560"/>
            <a:ext cx="8046719" cy="2286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" name="直线"/>
          <p:cNvSpPr>
            <a:spLocks/>
          </p:cNvSpPr>
          <p:nvPr/>
        </p:nvSpPr>
        <p:spPr>
          <a:xfrm rot="0">
            <a:off x="457200" y="756138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3" name="矩形"/>
          <p:cNvSpPr>
            <a:spLocks/>
          </p:cNvSpPr>
          <p:nvPr/>
        </p:nvSpPr>
        <p:spPr>
          <a:xfrm rot="0">
            <a:off x="457200" y="251461"/>
            <a:ext cx="804671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Objective of this Research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457199" y="986495"/>
            <a:ext cx="6260123" cy="13417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 improve LLMs by integrating Knowledge Graph knowledge directly into the model using a lightweight adapter, instead of relying only on prompts.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30291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Challenges of Large Language Models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548640" y="1097280"/>
            <a:ext cx="374903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Hallucination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548640" y="1444752"/>
            <a:ext cx="374903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Confidently produces incorrect information.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548640" y="2286000"/>
            <a:ext cx="37490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Limited Domain Knowledge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548640" y="2633472"/>
            <a:ext cx="374903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 expert in specialized subjects.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548640" y="3474720"/>
            <a:ext cx="37490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Becomes Outdated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548640" y="3822192"/>
            <a:ext cx="374903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Needs retraining for new information.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 rot="0">
            <a:off x="4754880" y="1097280"/>
            <a:ext cx="374904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Conflict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4754880" y="1444752"/>
            <a:ext cx="374904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 memory vs. external facts may disagree.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4754880" y="2286000"/>
            <a:ext cx="37490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Prompt Dependency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4754880" y="2633472"/>
            <a:ext cx="37490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Performance heavily depends on prompt quality.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4754880" y="3474720"/>
            <a:ext cx="37490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Poor Explainability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4754880" y="3822192"/>
            <a:ext cx="37490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Hard to understand why an answer was generated.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直线"/>
          <p:cNvSpPr>
            <a:spLocks/>
          </p:cNvSpPr>
          <p:nvPr/>
        </p:nvSpPr>
        <p:spPr>
          <a:xfrm rot="0">
            <a:off x="548640" y="900332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69919194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Combine Knowledge Graphs with LLMs?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 rot="0">
            <a:off x="548640" y="1005839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Knowledge Graph (KG) stores real-world facts as structured triples: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548640" y="1417320"/>
            <a:ext cx="1737360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40" name="矩形"/>
          <p:cNvSpPr>
            <a:spLocks/>
          </p:cNvSpPr>
          <p:nvPr/>
        </p:nvSpPr>
        <p:spPr>
          <a:xfrm rot="0">
            <a:off x="548640" y="1417320"/>
            <a:ext cx="173736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Harrier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2377440" y="1417320"/>
            <a:ext cx="155447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has temperament →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4023359" y="1417320"/>
            <a:ext cx="1737360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43" name="矩形"/>
          <p:cNvSpPr>
            <a:spLocks/>
          </p:cNvSpPr>
          <p:nvPr/>
        </p:nvSpPr>
        <p:spPr>
          <a:xfrm rot="0">
            <a:off x="4023359" y="1417320"/>
            <a:ext cx="173736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Friendly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548640" y="1920240"/>
            <a:ext cx="1737360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45" name="矩形"/>
          <p:cNvSpPr>
            <a:spLocks/>
          </p:cNvSpPr>
          <p:nvPr/>
        </p:nvSpPr>
        <p:spPr>
          <a:xfrm rot="0">
            <a:off x="548640" y="1920240"/>
            <a:ext cx="173736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Chinese Crested Dog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2377440" y="1920240"/>
            <a:ext cx="155447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has temperament →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4023359" y="1920240"/>
            <a:ext cx="1737360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48" name="矩形"/>
          <p:cNvSpPr>
            <a:spLocks/>
          </p:cNvSpPr>
          <p:nvPr/>
        </p:nvSpPr>
        <p:spPr>
          <a:xfrm rot="0">
            <a:off x="4023359" y="1920240"/>
            <a:ext cx="173736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Alert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548640" y="2423160"/>
            <a:ext cx="1737360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50" name="矩形"/>
          <p:cNvSpPr>
            <a:spLocks/>
          </p:cNvSpPr>
          <p:nvPr/>
        </p:nvSpPr>
        <p:spPr>
          <a:xfrm rot="0">
            <a:off x="548640" y="2423160"/>
            <a:ext cx="173736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Einstein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2377440" y="2423160"/>
            <a:ext cx="155447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born in →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4023359" y="2423160"/>
            <a:ext cx="1737360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53" name="矩形"/>
          <p:cNvSpPr>
            <a:spLocks/>
          </p:cNvSpPr>
          <p:nvPr/>
        </p:nvSpPr>
        <p:spPr>
          <a:xfrm rot="0">
            <a:off x="4023359" y="2423160"/>
            <a:ext cx="173736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Germany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直线"/>
          <p:cNvSpPr>
            <a:spLocks/>
          </p:cNvSpPr>
          <p:nvPr/>
        </p:nvSpPr>
        <p:spPr>
          <a:xfrm rot="0">
            <a:off x="548640" y="3017519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55" name="矩形"/>
          <p:cNvSpPr>
            <a:spLocks/>
          </p:cNvSpPr>
          <p:nvPr/>
        </p:nvSpPr>
        <p:spPr>
          <a:xfrm rot="0">
            <a:off x="548640" y="3154680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KG Helps LLMs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548640" y="3520440"/>
            <a:ext cx="4114799" cy="12801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Easy to update facts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Structured relationships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Human understandable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4846320" y="3520440"/>
            <a:ext cx="4114800" cy="12801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Better factual reasoning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Reduces hallucination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Domain-specific expertise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471657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Existing Approaches and Their Limitations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63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529590" y="1404130"/>
          <a:ext cx="8046719" cy="265176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743187"/>
                <a:gridCol w="2743187"/>
                <a:gridCol w="2560307"/>
              </a:tblGrid>
              <a:tr h="4419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Method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Approach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Key Problem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419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Traditional LLM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Uses only trained memory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Hallucinations, outdated knowledge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19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Prompt Engineering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Inject KG facts into prompt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Quality depends entirely on prompt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19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Retrieval Augmented Generation (RAG)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Retrieve documents at inference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Ignores graph structure, no reasoning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19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Knowledge Graph Prompting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Put KG triples in prompt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Prompt gets too long, still prompt-dependent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195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Fine-Tuning (Full)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Retrain entire model on KG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5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Extremely expensive, forgets old knowledge</a:t>
                      </a:r>
                      <a:endParaRPr lang="zh-CN" altLang="en-US" sz="11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矩形"/>
          <p:cNvSpPr>
            <a:spLocks/>
          </p:cNvSpPr>
          <p:nvPr/>
        </p:nvSpPr>
        <p:spPr>
          <a:xfrm rot="0">
            <a:off x="548640" y="3794760"/>
            <a:ext cx="8046719" cy="73152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5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直线"/>
          <p:cNvSpPr>
            <a:spLocks/>
          </p:cNvSpPr>
          <p:nvPr/>
        </p:nvSpPr>
        <p:spPr>
          <a:xfrm rot="0">
            <a:off x="548640" y="967153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126936914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Core Idea of KG-Adapter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548640" y="1005839"/>
            <a:ext cx="8046719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Instead of putting KG information inside prompts, KG-Adapter attaches a small trainable module directly inside the LLM.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548640" y="1600200"/>
            <a:ext cx="3383279" cy="45720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73" name="矩形"/>
          <p:cNvSpPr>
            <a:spLocks/>
          </p:cNvSpPr>
          <p:nvPr/>
        </p:nvSpPr>
        <p:spPr>
          <a:xfrm rot="0">
            <a:off x="548640" y="1600200"/>
            <a:ext cx="338327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Graph (External Facts)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" name="矩形"/>
          <p:cNvSpPr>
            <a:spLocks/>
          </p:cNvSpPr>
          <p:nvPr/>
        </p:nvSpPr>
        <p:spPr>
          <a:xfrm rot="0">
            <a:off x="548640" y="2057400"/>
            <a:ext cx="33832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548640" y="2286000"/>
            <a:ext cx="3383279" cy="45720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76" name="矩形"/>
          <p:cNvSpPr>
            <a:spLocks/>
          </p:cNvSpPr>
          <p:nvPr/>
        </p:nvSpPr>
        <p:spPr>
          <a:xfrm rot="0">
            <a:off x="548640" y="2286000"/>
            <a:ext cx="338327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 Encoder (Processes Graph)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548640" y="2743200"/>
            <a:ext cx="33832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548640" y="2971799"/>
            <a:ext cx="3383279" cy="45720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79" name="矩形"/>
          <p:cNvSpPr>
            <a:spLocks/>
          </p:cNvSpPr>
          <p:nvPr/>
        </p:nvSpPr>
        <p:spPr>
          <a:xfrm rot="0">
            <a:off x="548640" y="2971799"/>
            <a:ext cx="338327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 Adapter (Small Module inside LLM)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矩形"/>
          <p:cNvSpPr>
            <a:spLocks/>
          </p:cNvSpPr>
          <p:nvPr/>
        </p:nvSpPr>
        <p:spPr>
          <a:xfrm rot="0">
            <a:off x="548640" y="3429000"/>
            <a:ext cx="33832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548640" y="3657600"/>
            <a:ext cx="3383279" cy="45720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82" name="矩形"/>
          <p:cNvSpPr>
            <a:spLocks/>
          </p:cNvSpPr>
          <p:nvPr/>
        </p:nvSpPr>
        <p:spPr>
          <a:xfrm rot="0">
            <a:off x="548640" y="3657600"/>
            <a:ext cx="338327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Generated Answer (More Accurate)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4480560" y="1371600"/>
            <a:ext cx="411479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Benefits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4480560" y="1783080"/>
            <a:ext cx="411479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Less Training Cost — </a:t>
            </a: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Only adapter params are updated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4480560" y="2176272"/>
            <a:ext cx="41147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Original LLM Unchanged — </a:t>
            </a: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Frozen, no risk of forgetting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矩形"/>
          <p:cNvSpPr>
            <a:spLocks/>
          </p:cNvSpPr>
          <p:nvPr/>
        </p:nvSpPr>
        <p:spPr>
          <a:xfrm rot="0">
            <a:off x="4480560" y="2569463"/>
            <a:ext cx="41147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Uses Graph Structure — </a:t>
            </a: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Learns entity &amp; relation features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4480560" y="2962656"/>
            <a:ext cx="41147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Better Reasoning — </a:t>
            </a: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Structured knowledge aids inference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4480560" y="3355848"/>
            <a:ext cx="41147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Easy to Plug In — </a:t>
            </a: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Works with existing LLM checkpoints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直线"/>
          <p:cNvSpPr>
            <a:spLocks/>
          </p:cNvSpPr>
          <p:nvPr/>
        </p:nvSpPr>
        <p:spPr>
          <a:xfrm rot="0">
            <a:off x="548640" y="4370832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548640" y="4370832"/>
            <a:ext cx="804671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Stat: Only 28 million parameters trained out of a 7 billion parameter LLM — that is only 0.4% of the total model.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72398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Overall Architecture of KG-Adapter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2103120" y="914400"/>
            <a:ext cx="4937760" cy="420624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97" name="矩形"/>
          <p:cNvSpPr>
            <a:spLocks/>
          </p:cNvSpPr>
          <p:nvPr/>
        </p:nvSpPr>
        <p:spPr>
          <a:xfrm rot="0">
            <a:off x="2103120" y="914400"/>
            <a:ext cx="4937760" cy="4206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Graph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Entities + Relations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2103120" y="1335024"/>
            <a:ext cx="4937760" cy="914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矩形"/>
          <p:cNvSpPr>
            <a:spLocks/>
          </p:cNvSpPr>
          <p:nvPr/>
        </p:nvSpPr>
        <p:spPr>
          <a:xfrm rot="0">
            <a:off x="2103120" y="1426464"/>
            <a:ext cx="4937760" cy="420624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00" name="矩形"/>
          <p:cNvSpPr>
            <a:spLocks/>
          </p:cNvSpPr>
          <p:nvPr/>
        </p:nvSpPr>
        <p:spPr>
          <a:xfrm rot="0">
            <a:off x="2103120" y="1426464"/>
            <a:ext cx="4937760" cy="4206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Graph Encoder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GNN-based encoding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1" name="矩形"/>
          <p:cNvSpPr>
            <a:spLocks/>
          </p:cNvSpPr>
          <p:nvPr/>
        </p:nvSpPr>
        <p:spPr>
          <a:xfrm rot="0">
            <a:off x="2103120" y="1847088"/>
            <a:ext cx="4937760" cy="914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 rot="0">
            <a:off x="2103120" y="1938527"/>
            <a:ext cx="4937760" cy="420624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03" name="矩形"/>
          <p:cNvSpPr>
            <a:spLocks/>
          </p:cNvSpPr>
          <p:nvPr/>
        </p:nvSpPr>
        <p:spPr>
          <a:xfrm rot="0">
            <a:off x="2103120" y="1938527"/>
            <a:ext cx="4937760" cy="4206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Node Repr. + Relation Repr.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Entity &amp; edge embeddings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矩形"/>
          <p:cNvSpPr>
            <a:spLocks/>
          </p:cNvSpPr>
          <p:nvPr/>
        </p:nvSpPr>
        <p:spPr>
          <a:xfrm rot="0">
            <a:off x="2103120" y="2359152"/>
            <a:ext cx="4937760" cy="91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矩形"/>
          <p:cNvSpPr>
            <a:spLocks/>
          </p:cNvSpPr>
          <p:nvPr/>
        </p:nvSpPr>
        <p:spPr>
          <a:xfrm rot="0">
            <a:off x="2103120" y="2450591"/>
            <a:ext cx="4937760" cy="420624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06" name="矩形"/>
          <p:cNvSpPr>
            <a:spLocks/>
          </p:cNvSpPr>
          <p:nvPr/>
        </p:nvSpPr>
        <p:spPr>
          <a:xfrm rot="0">
            <a:off x="2103120" y="2450591"/>
            <a:ext cx="4937760" cy="4206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 Adapter (inside LLM)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Lightweight trainable module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2103120" y="2871216"/>
            <a:ext cx="4937760" cy="91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2103120" y="2962656"/>
            <a:ext cx="4937760" cy="420624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09" name="矩形"/>
          <p:cNvSpPr>
            <a:spLocks/>
          </p:cNvSpPr>
          <p:nvPr/>
        </p:nvSpPr>
        <p:spPr>
          <a:xfrm rot="0">
            <a:off x="2103120" y="2962656"/>
            <a:ext cx="4937760" cy="4206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 Decoder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Language model (frozen)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0" name="矩形"/>
          <p:cNvSpPr>
            <a:spLocks/>
          </p:cNvSpPr>
          <p:nvPr/>
        </p:nvSpPr>
        <p:spPr>
          <a:xfrm rot="0">
            <a:off x="2103120" y="3383279"/>
            <a:ext cx="4937760" cy="91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2103120" y="3474720"/>
            <a:ext cx="4937760" cy="420624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12" name="矩形"/>
          <p:cNvSpPr>
            <a:spLocks/>
          </p:cNvSpPr>
          <p:nvPr/>
        </p:nvSpPr>
        <p:spPr>
          <a:xfrm rot="0">
            <a:off x="2103120" y="3474720"/>
            <a:ext cx="4937760" cy="4206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Generated Response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Factually grounded answer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 rot="0">
            <a:off x="-541606" y="4258994"/>
            <a:ext cx="80467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Insight: KG information is injected into the model internals, not appended to the input prompt.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4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88316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is Parameter-Efficient Fine-Tuning (PEFT)?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 rot="0">
            <a:off x="548640" y="1051560"/>
            <a:ext cx="39319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Traditional Fine-Tuning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 rot="0">
            <a:off x="548640" y="1417320"/>
            <a:ext cx="3931919" cy="2560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Updates ALL model parameters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Requires huge GPU memory (100GB+)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Very slow and expensive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Risk of forgetting previous knowledge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 practical for regular researchers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1" name="直线"/>
          <p:cNvSpPr>
            <a:spLocks/>
          </p:cNvSpPr>
          <p:nvPr/>
        </p:nvSpPr>
        <p:spPr>
          <a:xfrm rot="0">
            <a:off x="4572000" y="1051560"/>
            <a:ext cx="0" cy="310896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22" name="矩形"/>
          <p:cNvSpPr>
            <a:spLocks/>
          </p:cNvSpPr>
          <p:nvPr/>
        </p:nvSpPr>
        <p:spPr>
          <a:xfrm rot="0">
            <a:off x="4846320" y="1051560"/>
            <a:ext cx="38404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PEFT (Used in KG-Adapter)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 rot="0">
            <a:off x="4846320" y="1417320"/>
            <a:ext cx="3840480" cy="2560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Trains only a small adapter module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Original model parameters frozen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Much lower GPU memory needed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Fast and cost-effective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Only 28M out of 7B params trained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06250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Node-Centered Knowledge Encoding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矩形"/>
          <p:cNvSpPr>
            <a:spLocks/>
          </p:cNvSpPr>
          <p:nvPr/>
        </p:nvSpPr>
        <p:spPr>
          <a:xfrm rot="0">
            <a:off x="548640" y="1005839"/>
            <a:ext cx="493776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Each node in the Knowledge Graph represents an entity. The adapter learns how to understand these entity nodes.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矩形"/>
          <p:cNvSpPr>
            <a:spLocks/>
          </p:cNvSpPr>
          <p:nvPr/>
        </p:nvSpPr>
        <p:spPr>
          <a:xfrm rot="0">
            <a:off x="548640" y="1600200"/>
            <a:ext cx="49377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is a Node?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548640" y="1901951"/>
            <a:ext cx="493776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node = any real-world entity (person, place, animal, concept).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矩形"/>
          <p:cNvSpPr>
            <a:spLocks/>
          </p:cNvSpPr>
          <p:nvPr/>
        </p:nvSpPr>
        <p:spPr>
          <a:xfrm rot="0">
            <a:off x="548640" y="2331720"/>
            <a:ext cx="493776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it works: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矩形"/>
          <p:cNvSpPr>
            <a:spLocks/>
          </p:cNvSpPr>
          <p:nvPr/>
        </p:nvSpPr>
        <p:spPr>
          <a:xfrm rot="0">
            <a:off x="548640" y="2651760"/>
            <a:ext cx="4937760" cy="1828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graph encoder reads each entity node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It converts the node into a vector (number representation)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This vector is fed into the KG Adapter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adapter helps the LLM understand the entity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 rot="0">
            <a:off x="5577840" y="1005839"/>
            <a:ext cx="30175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Node Hierarchy Example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5" name="矩形"/>
          <p:cNvSpPr>
            <a:spLocks/>
          </p:cNvSpPr>
          <p:nvPr/>
        </p:nvSpPr>
        <p:spPr>
          <a:xfrm rot="0">
            <a:off x="5577840" y="1371600"/>
            <a:ext cx="3017519" cy="411479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36" name="矩形"/>
          <p:cNvSpPr>
            <a:spLocks/>
          </p:cNvSpPr>
          <p:nvPr/>
        </p:nvSpPr>
        <p:spPr>
          <a:xfrm rot="0">
            <a:off x="5577840" y="1371600"/>
            <a:ext cx="301751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Animal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矩形"/>
          <p:cNvSpPr>
            <a:spLocks/>
          </p:cNvSpPr>
          <p:nvPr/>
        </p:nvSpPr>
        <p:spPr>
          <a:xfrm rot="0">
            <a:off x="5577840" y="1783080"/>
            <a:ext cx="3017519" cy="146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 rot="0">
            <a:off x="5577840" y="1929384"/>
            <a:ext cx="3017519" cy="41148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39" name="矩形"/>
          <p:cNvSpPr>
            <a:spLocks/>
          </p:cNvSpPr>
          <p:nvPr/>
        </p:nvSpPr>
        <p:spPr>
          <a:xfrm rot="0">
            <a:off x="5577840" y="1929384"/>
            <a:ext cx="301751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5577840" y="2340864"/>
            <a:ext cx="3017519" cy="146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5577840" y="2487167"/>
            <a:ext cx="3017519" cy="411479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42" name="矩形"/>
          <p:cNvSpPr>
            <a:spLocks/>
          </p:cNvSpPr>
          <p:nvPr/>
        </p:nvSpPr>
        <p:spPr>
          <a:xfrm rot="0">
            <a:off x="5577840" y="2487167"/>
            <a:ext cx="301751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Breed: Harrier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5577840" y="2898647"/>
            <a:ext cx="3017519" cy="146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 rot="0">
            <a:off x="5577840" y="3044952"/>
            <a:ext cx="3017519" cy="411479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45" name="矩形"/>
          <p:cNvSpPr>
            <a:spLocks/>
          </p:cNvSpPr>
          <p:nvPr/>
        </p:nvSpPr>
        <p:spPr>
          <a:xfrm rot="0">
            <a:off x="5577840" y="3044952"/>
            <a:ext cx="301751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Temperament: Friendly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矩形"/>
          <p:cNvSpPr>
            <a:spLocks/>
          </p:cNvSpPr>
          <p:nvPr/>
        </p:nvSpPr>
        <p:spPr>
          <a:xfrm rot="0">
            <a:off x="5577840" y="3456431"/>
            <a:ext cx="3017519" cy="146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矩形"/>
          <p:cNvSpPr>
            <a:spLocks/>
          </p:cNvSpPr>
          <p:nvPr/>
        </p:nvSpPr>
        <p:spPr>
          <a:xfrm rot="0">
            <a:off x="5577840" y="3602736"/>
            <a:ext cx="3017519" cy="411479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48" name="矩形"/>
          <p:cNvSpPr>
            <a:spLocks/>
          </p:cNvSpPr>
          <p:nvPr/>
        </p:nvSpPr>
        <p:spPr>
          <a:xfrm rot="0">
            <a:off x="5577840" y="3602736"/>
            <a:ext cx="301751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Size: Medium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9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9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4244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Relation-Centered Knowledge Encoding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4" name="矩形"/>
          <p:cNvSpPr>
            <a:spLocks/>
          </p:cNvSpPr>
          <p:nvPr/>
        </p:nvSpPr>
        <p:spPr>
          <a:xfrm rot="0">
            <a:off x="548640" y="1005839"/>
            <a:ext cx="4937760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adapter also learns the relationships (edges) between entities, not just the entities themselves.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548640" y="1508759"/>
            <a:ext cx="49377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Relations Matter: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矩形"/>
          <p:cNvSpPr>
            <a:spLocks/>
          </p:cNvSpPr>
          <p:nvPr/>
        </p:nvSpPr>
        <p:spPr>
          <a:xfrm rot="0">
            <a:off x="548640" y="1810512"/>
            <a:ext cx="493776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Knowing "Harrier" alone is incomplete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Knowing "Harrier → has temperament → Friendly" is meaningful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7" name="矩形"/>
          <p:cNvSpPr>
            <a:spLocks/>
          </p:cNvSpPr>
          <p:nvPr/>
        </p:nvSpPr>
        <p:spPr>
          <a:xfrm rot="0">
            <a:off x="548640" y="2697480"/>
            <a:ext cx="49377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Relation Encoding Works: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8" name="矩形"/>
          <p:cNvSpPr>
            <a:spLocks/>
          </p:cNvSpPr>
          <p:nvPr/>
        </p:nvSpPr>
        <p:spPr>
          <a:xfrm rot="0">
            <a:off x="548640" y="2999232"/>
            <a:ext cx="493776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Each edge (relation) is encoded separately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Relation vector is combined with node vectors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2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Together they form a richer knowledge representation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9" name="矩形"/>
          <p:cNvSpPr>
            <a:spLocks/>
          </p:cNvSpPr>
          <p:nvPr/>
        </p:nvSpPr>
        <p:spPr>
          <a:xfrm rot="0">
            <a:off x="5577840" y="1005839"/>
            <a:ext cx="30175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Triple Examples (Harrier Dog)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0" name="矩形"/>
          <p:cNvSpPr>
            <a:spLocks/>
          </p:cNvSpPr>
          <p:nvPr/>
        </p:nvSpPr>
        <p:spPr>
          <a:xfrm rot="0">
            <a:off x="5577840" y="1371600"/>
            <a:ext cx="3017519" cy="59436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61" name="矩形"/>
          <p:cNvSpPr>
            <a:spLocks/>
          </p:cNvSpPr>
          <p:nvPr/>
        </p:nvSpPr>
        <p:spPr>
          <a:xfrm rot="0">
            <a:off x="5577840" y="1371600"/>
            <a:ext cx="301751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Harrier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has temperament → Friendly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2" name="矩形"/>
          <p:cNvSpPr>
            <a:spLocks/>
          </p:cNvSpPr>
          <p:nvPr/>
        </p:nvSpPr>
        <p:spPr>
          <a:xfrm rot="0">
            <a:off x="5577840" y="2148840"/>
            <a:ext cx="3017519" cy="594360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63" name="矩形"/>
          <p:cNvSpPr>
            <a:spLocks/>
          </p:cNvSpPr>
          <p:nvPr/>
        </p:nvSpPr>
        <p:spPr>
          <a:xfrm rot="0">
            <a:off x="5577840" y="2148840"/>
            <a:ext cx="301751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Harrier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is a breed of → Dog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矩形"/>
          <p:cNvSpPr>
            <a:spLocks/>
          </p:cNvSpPr>
          <p:nvPr/>
        </p:nvSpPr>
        <p:spPr>
          <a:xfrm rot="0">
            <a:off x="5577840" y="2926080"/>
            <a:ext cx="3017519" cy="594359"/>
          </a:xfrm>
          <a:prstGeom prst="rect"/>
          <a:solidFill>
            <a:srgbClr val="F2F2F2"/>
          </a:solidFill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165" name="矩形"/>
          <p:cNvSpPr>
            <a:spLocks/>
          </p:cNvSpPr>
          <p:nvPr/>
        </p:nvSpPr>
        <p:spPr>
          <a:xfrm rot="0">
            <a:off x="5577840" y="2926080"/>
            <a:ext cx="3017519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Harrier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originated in → England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矩形"/>
          <p:cNvSpPr>
            <a:spLocks/>
          </p:cNvSpPr>
          <p:nvPr/>
        </p:nvSpPr>
        <p:spPr>
          <a:xfrm rot="0">
            <a:off x="5577840" y="3749040"/>
            <a:ext cx="301751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Node + Relation encoding = complete knowledge representation for the adapter.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835719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Complete Working Flow of KG-Adapter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2" name="矩形"/>
          <p:cNvSpPr>
            <a:spLocks/>
          </p:cNvSpPr>
          <p:nvPr/>
        </p:nvSpPr>
        <p:spPr>
          <a:xfrm rot="0">
            <a:off x="548640" y="1005839"/>
            <a:ext cx="365760" cy="3840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矩形"/>
          <p:cNvSpPr>
            <a:spLocks/>
          </p:cNvSpPr>
          <p:nvPr/>
        </p:nvSpPr>
        <p:spPr>
          <a:xfrm rot="0">
            <a:off x="960120" y="1005839"/>
            <a:ext cx="7635240" cy="3840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User Question: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Input query from the user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 rot="0">
            <a:off x="548640" y="1472183"/>
            <a:ext cx="36576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960120" y="1472183"/>
            <a:ext cx="763524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Graph: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External structured knowledge base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548640" y="1938527"/>
            <a:ext cx="36576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7" name="矩形"/>
          <p:cNvSpPr>
            <a:spLocks/>
          </p:cNvSpPr>
          <p:nvPr/>
        </p:nvSpPr>
        <p:spPr>
          <a:xfrm rot="0">
            <a:off x="960120" y="1938527"/>
            <a:ext cx="763524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Node Encoder: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Encodes entity nodes into vectors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矩形"/>
          <p:cNvSpPr>
            <a:spLocks/>
          </p:cNvSpPr>
          <p:nvPr/>
        </p:nvSpPr>
        <p:spPr>
          <a:xfrm rot="0">
            <a:off x="548640" y="2404872"/>
            <a:ext cx="365760" cy="3840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960120" y="2404872"/>
            <a:ext cx="7635240" cy="3840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Relation Encoder: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Encodes edge relations into vectors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548640" y="2871216"/>
            <a:ext cx="36576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矩形"/>
          <p:cNvSpPr>
            <a:spLocks/>
          </p:cNvSpPr>
          <p:nvPr/>
        </p:nvSpPr>
        <p:spPr>
          <a:xfrm rot="0">
            <a:off x="960120" y="2871216"/>
            <a:ext cx="763524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 Adapter: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Fuses node + relation features inside LLM layers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2" name="矩形"/>
          <p:cNvSpPr>
            <a:spLocks/>
          </p:cNvSpPr>
          <p:nvPr/>
        </p:nvSpPr>
        <p:spPr>
          <a:xfrm rot="0">
            <a:off x="548640" y="3337560"/>
            <a:ext cx="36576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3" name="矩形"/>
          <p:cNvSpPr>
            <a:spLocks/>
          </p:cNvSpPr>
          <p:nvPr/>
        </p:nvSpPr>
        <p:spPr>
          <a:xfrm rot="0">
            <a:off x="960120" y="3337560"/>
            <a:ext cx="763524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 Decoder: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Generates natural language output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矩形"/>
          <p:cNvSpPr>
            <a:spLocks/>
          </p:cNvSpPr>
          <p:nvPr/>
        </p:nvSpPr>
        <p:spPr>
          <a:xfrm rot="0">
            <a:off x="548640" y="3803903"/>
            <a:ext cx="36576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矩形"/>
          <p:cNvSpPr>
            <a:spLocks/>
          </p:cNvSpPr>
          <p:nvPr/>
        </p:nvSpPr>
        <p:spPr>
          <a:xfrm rot="0">
            <a:off x="960120" y="3803903"/>
            <a:ext cx="763524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 Answer: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Accurate, grounded response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6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11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81939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KG-Adapter vs. Prompt-Based KG Methods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91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548640" y="960120"/>
          <a:ext cx="8046719" cy="3017517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194547"/>
                <a:gridCol w="3200374"/>
                <a:gridCol w="2651747"/>
              </a:tblGrid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Aspect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Prompt-Based Method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KG-Adapter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KG Integration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Added inside the prompt text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Injected into model layers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Prompt Length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Becomes very long with KG facts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Stays short and clean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Quality Dependency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Entirely depends on prompt quality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Learns from graph structure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Inference Cost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Higher (long prompt = more tokens)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More efficient inference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Reasoning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Surface-level keyword matching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Deep structural reasoning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105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Scalability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Hard to scale to large KGs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262626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Scales better with graph encoders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2" name="矩形"/>
          <p:cNvSpPr>
            <a:spLocks/>
          </p:cNvSpPr>
          <p:nvPr/>
        </p:nvSpPr>
        <p:spPr>
          <a:xfrm rot="0">
            <a:off x="548640" y="4160520"/>
            <a:ext cx="804671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1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Conclusion: KG-Adapter learns knowledge, not just retrieves it.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12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90255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Experimental Setup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矩形"/>
          <p:cNvSpPr>
            <a:spLocks/>
          </p:cNvSpPr>
          <p:nvPr/>
        </p:nvSpPr>
        <p:spPr>
          <a:xfrm rot="0">
            <a:off x="548640" y="1097280"/>
            <a:ext cx="269747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Base Language Models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矩形"/>
          <p:cNvSpPr>
            <a:spLocks/>
          </p:cNvSpPr>
          <p:nvPr/>
        </p:nvSpPr>
        <p:spPr>
          <a:xfrm rot="0">
            <a:off x="548640" y="1508759"/>
            <a:ext cx="2697479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LLaMA (7B parameters)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Vicuna (7B parameters)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ChatGLM and others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矩形"/>
          <p:cNvSpPr>
            <a:spLocks/>
          </p:cNvSpPr>
          <p:nvPr/>
        </p:nvSpPr>
        <p:spPr>
          <a:xfrm rot="0">
            <a:off x="3429000" y="1097280"/>
            <a:ext cx="26974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Benchmark Datasets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矩形"/>
          <p:cNvSpPr>
            <a:spLocks/>
          </p:cNvSpPr>
          <p:nvPr/>
        </p:nvSpPr>
        <p:spPr>
          <a:xfrm rot="0">
            <a:off x="3429000" y="1508759"/>
            <a:ext cx="2697480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WebQSP — Web Questions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CWQ — Complex Web Questions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GrailQA — Compositional Reasoning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6309360" y="1097280"/>
            <a:ext cx="269747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Evaluation Tasks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矩形"/>
          <p:cNvSpPr>
            <a:spLocks/>
          </p:cNvSpPr>
          <p:nvPr/>
        </p:nvSpPr>
        <p:spPr>
          <a:xfrm rot="0">
            <a:off x="6309360" y="1508759"/>
            <a:ext cx="2697479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Graph QA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Entity Linking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Char char="•"/>
            </a:pPr>
            <a:r>
              <a:rPr lang="en-US" altLang="zh-CN" sz="125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Relation Reasoning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4" name="直线"/>
          <p:cNvSpPr>
            <a:spLocks/>
          </p:cNvSpPr>
          <p:nvPr/>
        </p:nvSpPr>
        <p:spPr>
          <a:xfrm rot="0">
            <a:off x="548640" y="3383279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205" name="矩形"/>
          <p:cNvSpPr>
            <a:spLocks/>
          </p:cNvSpPr>
          <p:nvPr/>
        </p:nvSpPr>
        <p:spPr>
          <a:xfrm rot="0">
            <a:off x="548640" y="3520440"/>
            <a:ext cx="804671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Metrics Used:  </a:t>
            </a:r>
            <a:r>
              <a:rPr lang="en-US" altLang="zh-CN" sz="13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F1 Score   |   Hits@1   |   Accuracy   |   Exact Match (EM)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13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777920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Experimental Results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548640" y="960120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KG-Adapter outperforms all baselines across KGQA benchmark datasets: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212" name="对象"/>
          <p:cNvGraphicFramePr>
            <a:graphicFrameLocks/>
          </p:cNvGraphicFramePr>
          <p:nvPr/>
        </p:nvGraphicFramePr>
        <p:xfrm>
          <a:off x="548640" y="1280160"/>
          <a:ext cx="8046719" cy="3017519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3" name="矩形"/>
          <p:cNvSpPr>
            <a:spLocks/>
          </p:cNvSpPr>
          <p:nvPr/>
        </p:nvSpPr>
        <p:spPr>
          <a:xfrm rot="0">
            <a:off x="548640" y="4434840"/>
            <a:ext cx="804671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KG-Adapter achieves the highest accuracy while training only ~0.4% of the total model parameters.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14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37353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Advantages of KG-Adapter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9" name="矩形"/>
          <p:cNvSpPr>
            <a:spLocks/>
          </p:cNvSpPr>
          <p:nvPr/>
        </p:nvSpPr>
        <p:spPr>
          <a:xfrm rot="0">
            <a:off x="548640" y="1051560"/>
            <a:ext cx="38404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Better Factual Accuracy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0" name="矩形"/>
          <p:cNvSpPr>
            <a:spLocks/>
          </p:cNvSpPr>
          <p:nvPr/>
        </p:nvSpPr>
        <p:spPr>
          <a:xfrm rot="0">
            <a:off x="822960" y="1380744"/>
            <a:ext cx="35661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Structured KG knowledge reduces hallucinations significantly.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4754880" y="1051560"/>
            <a:ext cx="38404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Uses Graph Structure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2" name="矩形"/>
          <p:cNvSpPr>
            <a:spLocks/>
          </p:cNvSpPr>
          <p:nvPr/>
        </p:nvSpPr>
        <p:spPr>
          <a:xfrm rot="0">
            <a:off x="5029200" y="1380744"/>
            <a:ext cx="35661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Learns entity and relation features, not just keywords.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3" name="矩形"/>
          <p:cNvSpPr>
            <a:spLocks/>
          </p:cNvSpPr>
          <p:nvPr/>
        </p:nvSpPr>
        <p:spPr>
          <a:xfrm rot="0">
            <a:off x="548640" y="2194560"/>
            <a:ext cx="38404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Lower Training Cost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 rot="0">
            <a:off x="822960" y="2523744"/>
            <a:ext cx="35661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Only 28M parameters trained out of 7B total.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5" name="矩形"/>
          <p:cNvSpPr>
            <a:spLocks/>
          </p:cNvSpPr>
          <p:nvPr/>
        </p:nvSpPr>
        <p:spPr>
          <a:xfrm rot="0">
            <a:off x="4754880" y="2194560"/>
            <a:ext cx="38404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Easy Integration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5029200" y="2523744"/>
            <a:ext cx="35661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Plugs into existing LLMs without modifying core weights.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548640" y="3337560"/>
            <a:ext cx="38404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Better Reasoning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矩形"/>
          <p:cNvSpPr>
            <a:spLocks/>
          </p:cNvSpPr>
          <p:nvPr/>
        </p:nvSpPr>
        <p:spPr>
          <a:xfrm rot="0">
            <a:off x="822960" y="3666744"/>
            <a:ext cx="35661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Multi-hop reasoning over graph paths improves complex QA.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9" name="矩形"/>
          <p:cNvSpPr>
            <a:spLocks/>
          </p:cNvSpPr>
          <p:nvPr/>
        </p:nvSpPr>
        <p:spPr>
          <a:xfrm rot="0">
            <a:off x="4754880" y="3337560"/>
            <a:ext cx="38404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</a:t>
            </a:r>
            <a:r>
              <a:rPr lang="en-US" altLang="zh-CN" sz="140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Prompt Independence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0" name="矩形"/>
          <p:cNvSpPr>
            <a:spLocks/>
          </p:cNvSpPr>
          <p:nvPr/>
        </p:nvSpPr>
        <p:spPr>
          <a:xfrm rot="0">
            <a:off x="5029200" y="3666744"/>
            <a:ext cx="35661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Does not rely on well-crafted prompts for knowledge injection.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15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198882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Limitations in KG-Adapter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548640" y="868680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My understanding after reading the paper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7" name="矩形"/>
          <p:cNvSpPr>
            <a:spLocks/>
          </p:cNvSpPr>
          <p:nvPr/>
        </p:nvSpPr>
        <p:spPr>
          <a:xfrm rot="0">
            <a:off x="548640" y="1325880"/>
            <a:ext cx="384047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Requires High-Quality KG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548640" y="1627632"/>
            <a:ext cx="38404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Incorrect or incomplete graph data will directly harm model output.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9" name="矩形"/>
          <p:cNvSpPr>
            <a:spLocks/>
          </p:cNvSpPr>
          <p:nvPr/>
        </p:nvSpPr>
        <p:spPr>
          <a:xfrm rot="0">
            <a:off x="4754880" y="1325880"/>
            <a:ext cx="384048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Cannot Fix Wrong KG Data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0" name="矩形"/>
          <p:cNvSpPr>
            <a:spLocks/>
          </p:cNvSpPr>
          <p:nvPr/>
        </p:nvSpPr>
        <p:spPr>
          <a:xfrm rot="0">
            <a:off x="4754880" y="1627632"/>
            <a:ext cx="38404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If the KG contains errors, the adapter will learn and propagate them.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1" name="矩形"/>
          <p:cNvSpPr>
            <a:spLocks/>
          </p:cNvSpPr>
          <p:nvPr/>
        </p:nvSpPr>
        <p:spPr>
          <a:xfrm rot="0">
            <a:off x="548640" y="2404872"/>
            <a:ext cx="3840479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 Construction is Expensive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2" name="矩形"/>
          <p:cNvSpPr>
            <a:spLocks/>
          </p:cNvSpPr>
          <p:nvPr/>
        </p:nvSpPr>
        <p:spPr>
          <a:xfrm rot="0">
            <a:off x="548640" y="2706624"/>
            <a:ext cx="38404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Building a domain-specific KG requires significant expert effort.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3" name="矩形"/>
          <p:cNvSpPr>
            <a:spLocks/>
          </p:cNvSpPr>
          <p:nvPr/>
        </p:nvSpPr>
        <p:spPr>
          <a:xfrm rot="0">
            <a:off x="4754880" y="2404872"/>
            <a:ext cx="384048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Still Depends on LLM Quality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4754880" y="2706624"/>
            <a:ext cx="38404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Adapter performance is bounded by the base LLM's capability.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5" name="矩形"/>
          <p:cNvSpPr>
            <a:spLocks/>
          </p:cNvSpPr>
          <p:nvPr/>
        </p:nvSpPr>
        <p:spPr>
          <a:xfrm rot="0">
            <a:off x="548640" y="3483863"/>
            <a:ext cx="384047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Real-Time Updates are Difficult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6" name="矩形"/>
          <p:cNvSpPr>
            <a:spLocks/>
          </p:cNvSpPr>
          <p:nvPr/>
        </p:nvSpPr>
        <p:spPr>
          <a:xfrm rot="0">
            <a:off x="548640" y="3785616"/>
            <a:ext cx="38404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Dynamic KG updates require re-training or re-initializing the adapter.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7" name="矩形"/>
          <p:cNvSpPr>
            <a:spLocks/>
          </p:cNvSpPr>
          <p:nvPr/>
        </p:nvSpPr>
        <p:spPr>
          <a:xfrm rot="0">
            <a:off x="4754880" y="3483863"/>
            <a:ext cx="384048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Narrow Evaluation Scope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矩形"/>
          <p:cNvSpPr>
            <a:spLocks/>
          </p:cNvSpPr>
          <p:nvPr/>
        </p:nvSpPr>
        <p:spPr>
          <a:xfrm rot="0">
            <a:off x="4754880" y="3785616"/>
            <a:ext cx="38404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Mostly tested on KGQA tasks; real-world NLP diversity not fully covered.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9" name="矩形"/>
          <p:cNvSpPr>
            <a:spLocks/>
          </p:cNvSpPr>
          <p:nvPr/>
        </p:nvSpPr>
        <p:spPr>
          <a:xfrm rot="0">
            <a:off x="548640" y="4526280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0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16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040545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"/>
          <p:cNvSpPr>
            <a:spLocks/>
          </p:cNvSpPr>
          <p:nvPr/>
        </p:nvSpPr>
        <p:spPr>
          <a:xfrm rot="0">
            <a:off x="548640" y="23915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My Suggestions for Future Improvement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5" name="矩形"/>
          <p:cNvSpPr>
            <a:spLocks/>
          </p:cNvSpPr>
          <p:nvPr/>
        </p:nvSpPr>
        <p:spPr>
          <a:xfrm rot="0">
            <a:off x="548640" y="1005839"/>
            <a:ext cx="3840479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Automatic KG Updating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Auto-refresh the graph as new facts emerge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6" name="矩形"/>
          <p:cNvSpPr>
            <a:spLocks/>
          </p:cNvSpPr>
          <p:nvPr/>
        </p:nvSpPr>
        <p:spPr>
          <a:xfrm rot="0">
            <a:off x="4754880" y="1005839"/>
            <a:ext cx="384048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Confidence Scoring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Add a reliability score before answering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7" name="矩形"/>
          <p:cNvSpPr>
            <a:spLocks/>
          </p:cNvSpPr>
          <p:nvPr/>
        </p:nvSpPr>
        <p:spPr>
          <a:xfrm rot="0">
            <a:off x="548640" y="1874520"/>
            <a:ext cx="3840479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Multi-KG Support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Integrate multiple domain KGs simultaneously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8" name="矩形"/>
          <p:cNvSpPr>
            <a:spLocks/>
          </p:cNvSpPr>
          <p:nvPr/>
        </p:nvSpPr>
        <p:spPr>
          <a:xfrm rot="0">
            <a:off x="4754880" y="1874520"/>
            <a:ext cx="384048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Adaptive Adapter Selection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Choose different adapters per domain/query type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矩形"/>
          <p:cNvSpPr>
            <a:spLocks/>
          </p:cNvSpPr>
          <p:nvPr/>
        </p:nvSpPr>
        <p:spPr>
          <a:xfrm rot="0">
            <a:off x="548640" y="2743200"/>
            <a:ext cx="3840479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Visual Reasoning Explanation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Show the graph path used for each answer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0" name="矩形"/>
          <p:cNvSpPr>
            <a:spLocks/>
          </p:cNvSpPr>
          <p:nvPr/>
        </p:nvSpPr>
        <p:spPr>
          <a:xfrm rot="0">
            <a:off x="4754880" y="2743200"/>
            <a:ext cx="384048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Self-Correction Mechanism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Re-verify answer against KG after generation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1" name="矩形"/>
          <p:cNvSpPr>
            <a:spLocks/>
          </p:cNvSpPr>
          <p:nvPr/>
        </p:nvSpPr>
        <p:spPr>
          <a:xfrm rot="0">
            <a:off x="548640" y="3611880"/>
            <a:ext cx="3840479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Reliability Ranking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Weight KG facts by source trustworthiness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4754880" y="3611880"/>
            <a:ext cx="3840480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8.  </a:t>
            </a: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Reasoning Path Memory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Remember and reuse successful inference paths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3" name="矩形"/>
          <p:cNvSpPr>
            <a:spLocks/>
          </p:cNvSpPr>
          <p:nvPr/>
        </p:nvSpPr>
        <p:spPr>
          <a:xfrm rot="0">
            <a:off x="548640" y="4526280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4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17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53174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I Learned From This Paper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9" name="矩形"/>
          <p:cNvSpPr>
            <a:spLocks/>
          </p:cNvSpPr>
          <p:nvPr/>
        </p:nvSpPr>
        <p:spPr>
          <a:xfrm rot="0">
            <a:off x="548640" y="960120"/>
            <a:ext cx="3840479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Prompts vs. Parameters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Prompt engineering adds knowledge outside; adapters add it inside the model.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0" name="矩形"/>
          <p:cNvSpPr>
            <a:spLocks/>
          </p:cNvSpPr>
          <p:nvPr/>
        </p:nvSpPr>
        <p:spPr>
          <a:xfrm rot="0">
            <a:off x="4754880" y="960120"/>
            <a:ext cx="3840480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Importance of Knowledge Graphs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KGs store facts in a structured, queryable, human-readable format.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1" name="矩形"/>
          <p:cNvSpPr>
            <a:spLocks/>
          </p:cNvSpPr>
          <p:nvPr/>
        </p:nvSpPr>
        <p:spPr>
          <a:xfrm rot="0">
            <a:off x="548640" y="1801368"/>
            <a:ext cx="3840479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Hallucination Really Means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LLMs generate plausible but factually wrong text when ungrounded.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2" name="矩形"/>
          <p:cNvSpPr>
            <a:spLocks/>
          </p:cNvSpPr>
          <p:nvPr/>
        </p:nvSpPr>
        <p:spPr>
          <a:xfrm rot="0">
            <a:off x="4754880" y="1801368"/>
            <a:ext cx="384048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PEFT Is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 can fine-tune only a small part of a giant model and still get great results.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3" name="矩形"/>
          <p:cNvSpPr>
            <a:spLocks/>
          </p:cNvSpPr>
          <p:nvPr/>
        </p:nvSpPr>
        <p:spPr>
          <a:xfrm rot="0">
            <a:off x="548640" y="2642616"/>
            <a:ext cx="3840479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Graph Neural Networks (GNNs)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Used to encode graph structure into vector form for the adapter.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4" name="矩形"/>
          <p:cNvSpPr>
            <a:spLocks/>
          </p:cNvSpPr>
          <p:nvPr/>
        </p:nvSpPr>
        <p:spPr>
          <a:xfrm rot="0">
            <a:off x="4754880" y="2642616"/>
            <a:ext cx="3840480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Adapters Work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small trainable layer inserted between frozen layers of a large model.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5" name="矩形"/>
          <p:cNvSpPr>
            <a:spLocks/>
          </p:cNvSpPr>
          <p:nvPr/>
        </p:nvSpPr>
        <p:spPr>
          <a:xfrm rot="0">
            <a:off x="548640" y="3483863"/>
            <a:ext cx="3840479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Lightweight Fine-Tuning Matters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Makes AI research accessible without massive GPU clusters.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6" name="矩形"/>
          <p:cNvSpPr>
            <a:spLocks/>
          </p:cNvSpPr>
          <p:nvPr/>
        </p:nvSpPr>
        <p:spPr>
          <a:xfrm rot="0">
            <a:off x="4754880" y="3483863"/>
            <a:ext cx="384048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Research Problem-Solution Thinking</a:t>
            </a:r>
            <a:endParaRPr lang="en-US" altLang="zh-CN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Good papers identify a clear gap and propose a testable solution.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7" name="矩形"/>
          <p:cNvSpPr>
            <a:spLocks/>
          </p:cNvSpPr>
          <p:nvPr/>
        </p:nvSpPr>
        <p:spPr>
          <a:xfrm rot="0">
            <a:off x="548640" y="4526280"/>
            <a:ext cx="80467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8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18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15830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Future Scope and Applications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3" name="矩形"/>
          <p:cNvSpPr>
            <a:spLocks/>
          </p:cNvSpPr>
          <p:nvPr/>
        </p:nvSpPr>
        <p:spPr>
          <a:xfrm rot="0">
            <a:off x="548640" y="1051560"/>
            <a:ext cx="25603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Healthcare AI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4" name="矩形"/>
          <p:cNvSpPr>
            <a:spLocks/>
          </p:cNvSpPr>
          <p:nvPr/>
        </p:nvSpPr>
        <p:spPr>
          <a:xfrm rot="0">
            <a:off x="548640" y="1417320"/>
            <a:ext cx="256031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Drug interaction and medical diagnosis using medical KGs.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5" name="矩形"/>
          <p:cNvSpPr>
            <a:spLocks/>
          </p:cNvSpPr>
          <p:nvPr/>
        </p:nvSpPr>
        <p:spPr>
          <a:xfrm rot="0">
            <a:off x="3291840" y="1051560"/>
            <a:ext cx="25603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Legal AI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6" name="矩形"/>
          <p:cNvSpPr>
            <a:spLocks/>
          </p:cNvSpPr>
          <p:nvPr/>
        </p:nvSpPr>
        <p:spPr>
          <a:xfrm rot="0">
            <a:off x="3291840" y="1417320"/>
            <a:ext cx="256032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Case law reasoning with legal knowledge graphs.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7" name="矩形"/>
          <p:cNvSpPr>
            <a:spLocks/>
          </p:cNvSpPr>
          <p:nvPr/>
        </p:nvSpPr>
        <p:spPr>
          <a:xfrm rot="0">
            <a:off x="6035039" y="1051560"/>
            <a:ext cx="25603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Education AI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8" name="矩形"/>
          <p:cNvSpPr>
            <a:spLocks/>
          </p:cNvSpPr>
          <p:nvPr/>
        </p:nvSpPr>
        <p:spPr>
          <a:xfrm rot="0">
            <a:off x="6035039" y="1417320"/>
            <a:ext cx="256031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Personalized tutoring systems with curriculum KGs.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9" name="矩形"/>
          <p:cNvSpPr>
            <a:spLocks/>
          </p:cNvSpPr>
          <p:nvPr/>
        </p:nvSpPr>
        <p:spPr>
          <a:xfrm rot="0">
            <a:off x="548640" y="2468880"/>
            <a:ext cx="25603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Financial AI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0" name="矩形"/>
          <p:cNvSpPr>
            <a:spLocks/>
          </p:cNvSpPr>
          <p:nvPr/>
        </p:nvSpPr>
        <p:spPr>
          <a:xfrm rot="0">
            <a:off x="548640" y="2834640"/>
            <a:ext cx="256031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Risk analysis using market knowledge graphs.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1" name="矩形"/>
          <p:cNvSpPr>
            <a:spLocks/>
          </p:cNvSpPr>
          <p:nvPr/>
        </p:nvSpPr>
        <p:spPr>
          <a:xfrm rot="0">
            <a:off x="3291840" y="2468880"/>
            <a:ext cx="25603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Scientific Research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2" name="矩形"/>
          <p:cNvSpPr>
            <a:spLocks/>
          </p:cNvSpPr>
          <p:nvPr/>
        </p:nvSpPr>
        <p:spPr>
          <a:xfrm rot="0">
            <a:off x="3291840" y="2834640"/>
            <a:ext cx="256032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Answering complex questions using scientific ontologies.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3" name="矩形"/>
          <p:cNvSpPr>
            <a:spLocks/>
          </p:cNvSpPr>
          <p:nvPr/>
        </p:nvSpPr>
        <p:spPr>
          <a:xfrm rot="0">
            <a:off x="6035039" y="2468880"/>
            <a:ext cx="25603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Real-Time KGs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6035039" y="2834640"/>
            <a:ext cx="256031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Adapters that refresh as the world changes in real time.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5" name="直线"/>
          <p:cNvSpPr>
            <a:spLocks/>
          </p:cNvSpPr>
          <p:nvPr/>
        </p:nvSpPr>
        <p:spPr>
          <a:xfrm rot="0">
            <a:off x="548640" y="4114800"/>
            <a:ext cx="8046719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296" name="矩形"/>
          <p:cNvSpPr>
            <a:spLocks/>
          </p:cNvSpPr>
          <p:nvPr/>
        </p:nvSpPr>
        <p:spPr>
          <a:xfrm rot="0">
            <a:off x="548640" y="4251960"/>
            <a:ext cx="8046719" cy="36575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97" name="矩形"/>
          <p:cNvSpPr>
            <a:spLocks/>
          </p:cNvSpPr>
          <p:nvPr/>
        </p:nvSpPr>
        <p:spPr>
          <a:xfrm rot="0">
            <a:off x="8503920" y="4846320"/>
            <a:ext cx="365759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9595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19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212182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矩形"/>
          <p:cNvSpPr>
            <a:spLocks/>
          </p:cNvSpPr>
          <p:nvPr/>
        </p:nvSpPr>
        <p:spPr>
          <a:xfrm rot="0">
            <a:off x="548640" y="320040"/>
            <a:ext cx="80467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Conclusion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2" name="矩形"/>
          <p:cNvSpPr>
            <a:spLocks/>
          </p:cNvSpPr>
          <p:nvPr/>
        </p:nvSpPr>
        <p:spPr>
          <a:xfrm rot="0">
            <a:off x="548640" y="1051560"/>
            <a:ext cx="8046719" cy="2926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Traditional LLMs depend mostly on learned memory, leading to hallucinations and factual errors.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KG-Adapter provides a smarter, structured way to integrate Knowledge Graph knowledge directly into LLM layers.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It achieves significant accuracy improvements while training only ~0.4% of the model's total parameters.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approach is cost-effective, modular, and compatible with existing LLM checkpoints.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26262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Studying this paper helped me understand how structured knowledge and neural models can complement each other.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3" name="直线"/>
          <p:cNvSpPr>
            <a:spLocks/>
          </p:cNvSpPr>
          <p:nvPr/>
        </p:nvSpPr>
        <p:spPr>
          <a:xfrm rot="0">
            <a:off x="562707" y="3896750"/>
            <a:ext cx="5718516" cy="0"/>
          </a:xfrm>
          <a:prstGeom prst="line"/>
          <a:noFill/>
          <a:ln w="12700" cmpd="sng" cap="flat">
            <a:solidFill>
              <a:srgbClr val="BFBFBF"/>
            </a:solidFill>
            <a:prstDash val="solid"/>
            <a:round/>
          </a:ln>
        </p:spPr>
      </p:sp>
      <p:sp>
        <p:nvSpPr>
          <p:cNvPr id="304" name="矩形"/>
          <p:cNvSpPr>
            <a:spLocks/>
          </p:cNvSpPr>
          <p:nvPr/>
        </p:nvSpPr>
        <p:spPr>
          <a:xfrm rot="0">
            <a:off x="-2472314" y="4160520"/>
            <a:ext cx="804671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1F4E7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Thank You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87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23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KG-Adapter Research Paper Presentation</dc:title>
  <dc:subject>PptxGenJS Presentation</dc:subject>
  <dc:creator>Student</dc:creator>
  <cp:lastModifiedBy>root</cp:lastModifiedBy>
  <cp:revision>2</cp:revision>
  <dcterms:created xsi:type="dcterms:W3CDTF">2026-06-28T16:36:45Z</dcterms:created>
  <dcterms:modified xsi:type="dcterms:W3CDTF">2026-06-28T14:54:14Z</dcterms:modified>
</cp:coreProperties>
</file>